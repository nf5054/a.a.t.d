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3"/>
  </p:notes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IBM Plex Sans Arabic" charset="1" panose="020B0503050203000203"/>
      <p:regular r:id="rId16"/>
    </p:embeddedFont>
    <p:embeddedFont>
      <p:font typeface="IBM Plex Sans Arabic Bold" charset="1" panose="020B0803050203000203"/>
      <p:regular r:id="rId18"/>
    </p:embeddedFont>
    <p:embeddedFont>
      <p:font typeface="Open Sans Bold" charset="1" panose="020B0806030504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notesMasters/notesMaster1.xml" Type="http://schemas.openxmlformats.org/officeDocument/2006/relationships/notesMaster"/><Relationship Id="rId14" Target="theme/theme2.xml" Type="http://schemas.openxmlformats.org/officeDocument/2006/relationships/theme"/><Relationship Id="rId15" Target="notesSlides/notesSlide1.xml" Type="http://schemas.openxmlformats.org/officeDocument/2006/relationships/notesSlide"/><Relationship Id="rId16" Target="fonts/font16.fntdata" Type="http://schemas.openxmlformats.org/officeDocument/2006/relationships/font"/><Relationship Id="rId17" Target="notesSlides/notesSlide2.xml" Type="http://schemas.openxmlformats.org/officeDocument/2006/relationships/notesSlide"/><Relationship Id="rId18" Target="fonts/font18.fntdata" Type="http://schemas.openxmlformats.org/officeDocument/2006/relationships/font"/><Relationship Id="rId19" Target="notesSlides/notesSlide3.xml" Type="http://schemas.openxmlformats.org/officeDocument/2006/relationships/notesSlide"/><Relationship Id="rId2" Target="presProps.xml" Type="http://schemas.openxmlformats.org/officeDocument/2006/relationships/presProps"/><Relationship Id="rId20" Target="notesSlides/notesSlide4.xml" Type="http://schemas.openxmlformats.org/officeDocument/2006/relationships/notesSlide"/><Relationship Id="rId21" Target="notesSlides/notesSlide5.xml" Type="http://schemas.openxmlformats.org/officeDocument/2006/relationships/notesSlide"/><Relationship Id="rId22" Target="fonts/font22.fntdata" Type="http://schemas.openxmlformats.org/officeDocument/2006/relationships/font"/><Relationship Id="rId23" Target="notesSlides/notesSlide6.xml" Type="http://schemas.openxmlformats.org/officeDocument/2006/relationships/notesSlide"/><Relationship Id="rId24" Target="notesSlides/notesSlide7.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9.png" Type="http://schemas.openxmlformats.org/officeDocument/2006/relationships/image"/><Relationship Id="rId5"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 Id="rId4"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8.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0" y="0"/>
            <a:ext cx="6871002" cy="10287000"/>
            <a:chOff x="0" y="0"/>
            <a:chExt cx="9161336" cy="13716000"/>
          </a:xfrm>
        </p:grpSpPr>
        <p:sp>
          <p:nvSpPr>
            <p:cNvPr name="Freeform 4" id="4"/>
            <p:cNvSpPr/>
            <p:nvPr/>
          </p:nvSpPr>
          <p:spPr>
            <a:xfrm flipH="false" flipV="false" rot="0">
              <a:off x="0" y="0"/>
              <a:ext cx="9161272" cy="13716000"/>
            </a:xfrm>
            <a:custGeom>
              <a:avLst/>
              <a:gdLst/>
              <a:ahLst/>
              <a:cxnLst/>
              <a:rect r="r" b="b" t="t" l="l"/>
              <a:pathLst>
                <a:path h="13716000" w="9161272">
                  <a:moveTo>
                    <a:pt x="0" y="0"/>
                  </a:moveTo>
                  <a:lnTo>
                    <a:pt x="9161272" y="0"/>
                  </a:lnTo>
                  <a:lnTo>
                    <a:pt x="9161272" y="13716000"/>
                  </a:lnTo>
                  <a:lnTo>
                    <a:pt x="0" y="13716000"/>
                  </a:lnTo>
                  <a:lnTo>
                    <a:pt x="0" y="0"/>
                  </a:lnTo>
                  <a:close/>
                </a:path>
              </a:pathLst>
            </a:custGeom>
            <a:blipFill>
              <a:blip r:embed="rId4"/>
              <a:stretch>
                <a:fillRect l="-86765" t="-7499" r="6252" b="-13069"/>
              </a:stretch>
            </a:blipFill>
          </p:spPr>
        </p:sp>
      </p:grpSp>
      <p:grpSp>
        <p:nvGrpSpPr>
          <p:cNvPr name="Group 5" id="5"/>
          <p:cNvGrpSpPr/>
          <p:nvPr/>
        </p:nvGrpSpPr>
        <p:grpSpPr>
          <a:xfrm rot="0">
            <a:off x="8899982" y="4418736"/>
            <a:ext cx="8087411" cy="2852091"/>
            <a:chOff x="0" y="0"/>
            <a:chExt cx="1188403" cy="419100"/>
          </a:xfrm>
        </p:grpSpPr>
        <p:sp>
          <p:nvSpPr>
            <p:cNvPr name="Freeform 6" id="6"/>
            <p:cNvSpPr/>
            <p:nvPr/>
          </p:nvSpPr>
          <p:spPr>
            <a:xfrm flipH="false" flipV="false" rot="0">
              <a:off x="0" y="0"/>
              <a:ext cx="1188403" cy="419100"/>
            </a:xfrm>
            <a:custGeom>
              <a:avLst/>
              <a:gdLst/>
              <a:ahLst/>
              <a:cxnLst/>
              <a:rect r="r" b="b" t="t" l="l"/>
              <a:pathLst>
                <a:path h="419100" w="1188403">
                  <a:moveTo>
                    <a:pt x="18697" y="0"/>
                  </a:moveTo>
                  <a:lnTo>
                    <a:pt x="1169706" y="0"/>
                  </a:lnTo>
                  <a:cubicBezTo>
                    <a:pt x="1180032" y="0"/>
                    <a:pt x="1188403" y="8371"/>
                    <a:pt x="1188403" y="18697"/>
                  </a:cubicBezTo>
                  <a:lnTo>
                    <a:pt x="1188403" y="400403"/>
                  </a:lnTo>
                  <a:cubicBezTo>
                    <a:pt x="1188403" y="410729"/>
                    <a:pt x="1180032" y="419100"/>
                    <a:pt x="1169706" y="419100"/>
                  </a:cubicBezTo>
                  <a:lnTo>
                    <a:pt x="18697" y="419100"/>
                  </a:lnTo>
                  <a:cubicBezTo>
                    <a:pt x="8371" y="419100"/>
                    <a:pt x="0" y="410729"/>
                    <a:pt x="0" y="400403"/>
                  </a:cubicBezTo>
                  <a:lnTo>
                    <a:pt x="0" y="18697"/>
                  </a:lnTo>
                  <a:cubicBezTo>
                    <a:pt x="0" y="8371"/>
                    <a:pt x="8371" y="0"/>
                    <a:pt x="18697" y="0"/>
                  </a:cubicBezTo>
                  <a:close/>
                </a:path>
              </a:pathLst>
            </a:custGeom>
            <a:solidFill>
              <a:srgbClr val="08422D"/>
            </a:solidFill>
          </p:spPr>
        </p:sp>
        <p:sp>
          <p:nvSpPr>
            <p:cNvPr name="TextBox 7" id="7"/>
            <p:cNvSpPr txBox="true"/>
            <p:nvPr/>
          </p:nvSpPr>
          <p:spPr>
            <a:xfrm>
              <a:off x="0" y="-114300"/>
              <a:ext cx="1188403" cy="533400"/>
            </a:xfrm>
            <a:prstGeom prst="rect">
              <a:avLst/>
            </a:prstGeom>
          </p:spPr>
          <p:txBody>
            <a:bodyPr anchor="ctr" rtlCol="false" tIns="50800" lIns="50800" bIns="50800" rIns="50800"/>
            <a:lstStyle/>
            <a:p>
              <a:pPr algn="ctr">
                <a:lnSpc>
                  <a:spcPts val="3456"/>
                </a:lnSpc>
              </a:pPr>
            </a:p>
          </p:txBody>
        </p:sp>
      </p:grpSp>
      <p:grpSp>
        <p:nvGrpSpPr>
          <p:cNvPr name="Group 8" id="8"/>
          <p:cNvGrpSpPr/>
          <p:nvPr/>
        </p:nvGrpSpPr>
        <p:grpSpPr>
          <a:xfrm rot="0">
            <a:off x="8958060" y="4237480"/>
            <a:ext cx="8087401" cy="2805372"/>
            <a:chOff x="0" y="0"/>
            <a:chExt cx="10783202" cy="3740496"/>
          </a:xfrm>
        </p:grpSpPr>
        <p:sp>
          <p:nvSpPr>
            <p:cNvPr name="Freeform 9" id="9"/>
            <p:cNvSpPr/>
            <p:nvPr/>
          </p:nvSpPr>
          <p:spPr>
            <a:xfrm flipH="false" flipV="false" rot="0">
              <a:off x="0" y="0"/>
              <a:ext cx="10783200" cy="3740500"/>
            </a:xfrm>
            <a:custGeom>
              <a:avLst/>
              <a:gdLst/>
              <a:ahLst/>
              <a:cxnLst/>
              <a:rect r="r" b="b" t="t" l="l"/>
              <a:pathLst>
                <a:path h="3740500" w="10783200">
                  <a:moveTo>
                    <a:pt x="0" y="0"/>
                  </a:moveTo>
                  <a:lnTo>
                    <a:pt x="10783200" y="0"/>
                  </a:lnTo>
                  <a:lnTo>
                    <a:pt x="10783200" y="3740500"/>
                  </a:lnTo>
                  <a:lnTo>
                    <a:pt x="0" y="3740500"/>
                  </a:lnTo>
                  <a:close/>
                </a:path>
              </a:pathLst>
            </a:custGeom>
            <a:blipFill>
              <a:blip r:embed="rId5">
                <a:alphaModFix amt="0"/>
              </a:blip>
              <a:stretch>
                <a:fillRect l="0" t="-7718" r="0" b="-4625"/>
              </a:stretch>
            </a:blipFill>
          </p:spPr>
        </p:sp>
        <p:sp>
          <p:nvSpPr>
            <p:cNvPr name="TextBox 10" id="10"/>
            <p:cNvSpPr txBox="true"/>
            <p:nvPr/>
          </p:nvSpPr>
          <p:spPr>
            <a:xfrm>
              <a:off x="0" y="-47625"/>
              <a:ext cx="10783202" cy="3788121"/>
            </a:xfrm>
            <a:prstGeom prst="rect">
              <a:avLst/>
            </a:prstGeom>
          </p:spPr>
          <p:txBody>
            <a:bodyPr anchor="ctr" rtlCol="false" tIns="0" lIns="0" bIns="0" rIns="0"/>
            <a:lstStyle/>
            <a:p>
              <a:pPr algn="ctr">
                <a:lnSpc>
                  <a:spcPts val="14243"/>
                </a:lnSpc>
              </a:pPr>
              <a:r>
                <a:rPr lang="en-US" sz="11487" spc="2125">
                  <a:solidFill>
                    <a:srgbClr val="FFFFFF"/>
                  </a:solidFill>
                  <a:latin typeface="IBM Plex Sans Arabic"/>
                  <a:ea typeface="IBM Plex Sans Arabic"/>
                  <a:cs typeface="IBM Plex Sans Arabic"/>
                  <a:sym typeface="IBM Plex Sans Arabic"/>
                </a:rPr>
                <a:t>A.A.T.D</a:t>
              </a:r>
            </a:p>
          </p:txBody>
        </p:sp>
      </p:grpSp>
      <p:grpSp>
        <p:nvGrpSpPr>
          <p:cNvPr name="Group 11" id="11"/>
          <p:cNvGrpSpPr/>
          <p:nvPr/>
        </p:nvGrpSpPr>
        <p:grpSpPr>
          <a:xfrm rot="0">
            <a:off x="8841905" y="7042852"/>
            <a:ext cx="8087401" cy="1050000"/>
            <a:chOff x="0" y="0"/>
            <a:chExt cx="10783202" cy="1400000"/>
          </a:xfrm>
        </p:grpSpPr>
        <p:sp>
          <p:nvSpPr>
            <p:cNvPr name="Freeform 12" id="12"/>
            <p:cNvSpPr/>
            <p:nvPr/>
          </p:nvSpPr>
          <p:spPr>
            <a:xfrm flipH="false" flipV="false" rot="0">
              <a:off x="0" y="0"/>
              <a:ext cx="10783200" cy="1400003"/>
            </a:xfrm>
            <a:custGeom>
              <a:avLst/>
              <a:gdLst/>
              <a:ahLst/>
              <a:cxnLst/>
              <a:rect r="r" b="b" t="t" l="l"/>
              <a:pathLst>
                <a:path h="1400003" w="10783200">
                  <a:moveTo>
                    <a:pt x="0" y="0"/>
                  </a:moveTo>
                  <a:lnTo>
                    <a:pt x="10783200" y="0"/>
                  </a:lnTo>
                  <a:lnTo>
                    <a:pt x="10783200" y="1400003"/>
                  </a:lnTo>
                  <a:lnTo>
                    <a:pt x="0" y="1400003"/>
                  </a:lnTo>
                  <a:close/>
                </a:path>
              </a:pathLst>
            </a:custGeom>
            <a:blipFill>
              <a:blip r:embed="rId5">
                <a:alphaModFix amt="0"/>
              </a:blip>
              <a:stretch>
                <a:fillRect l="0" t="-100079" r="0" b="-100078"/>
              </a:stretch>
            </a:blipFill>
          </p:spPr>
        </p:sp>
        <p:sp>
          <p:nvSpPr>
            <p:cNvPr name="TextBox 13" id="13"/>
            <p:cNvSpPr txBox="true"/>
            <p:nvPr/>
          </p:nvSpPr>
          <p:spPr>
            <a:xfrm>
              <a:off x="0" y="0"/>
              <a:ext cx="10783202" cy="1400000"/>
            </a:xfrm>
            <a:prstGeom prst="rect">
              <a:avLst/>
            </a:prstGeom>
          </p:spPr>
          <p:txBody>
            <a:bodyPr anchor="ctr" rtlCol="false" tIns="0" lIns="0" bIns="0" rIns="0"/>
            <a:lstStyle/>
            <a:p>
              <a:pPr algn="r" rtl="true">
                <a:lnSpc>
                  <a:spcPts val="4449"/>
                </a:lnSpc>
              </a:pPr>
              <a:r>
                <a:rPr lang="ar-EG" sz="3708">
                  <a:solidFill>
                    <a:srgbClr val="07C08D"/>
                  </a:solidFill>
                  <a:latin typeface="IBM Plex Sans Arabic"/>
                  <a:ea typeface="IBM Plex Sans Arabic"/>
                  <a:cs typeface="IBM Plex Sans Arabic"/>
                  <a:sym typeface="IBM Plex Sans Arabic"/>
                  <a:rtl val="true"/>
                </a:rPr>
                <a:t>العباقرة</a:t>
              </a:r>
            </a:p>
          </p:txBody>
        </p:sp>
      </p:grpSp>
      <p:grpSp>
        <p:nvGrpSpPr>
          <p:cNvPr name="Group 14" id="14"/>
          <p:cNvGrpSpPr/>
          <p:nvPr/>
        </p:nvGrpSpPr>
        <p:grpSpPr>
          <a:xfrm rot="0">
            <a:off x="5978423" y="1396003"/>
            <a:ext cx="4162701" cy="1058447"/>
            <a:chOff x="0" y="0"/>
            <a:chExt cx="5550268" cy="1411262"/>
          </a:xfrm>
        </p:grpSpPr>
        <p:sp>
          <p:nvSpPr>
            <p:cNvPr name="Freeform 15" id="15"/>
            <p:cNvSpPr/>
            <p:nvPr/>
          </p:nvSpPr>
          <p:spPr>
            <a:xfrm flipH="false" flipV="false" rot="0">
              <a:off x="0" y="0"/>
              <a:ext cx="5550281" cy="1411224"/>
            </a:xfrm>
            <a:custGeom>
              <a:avLst/>
              <a:gdLst/>
              <a:ahLst/>
              <a:cxnLst/>
              <a:rect r="r" b="b" t="t" l="l"/>
              <a:pathLst>
                <a:path h="1411224" w="5550281">
                  <a:moveTo>
                    <a:pt x="0" y="0"/>
                  </a:moveTo>
                  <a:lnTo>
                    <a:pt x="5550281" y="0"/>
                  </a:lnTo>
                  <a:lnTo>
                    <a:pt x="5550281" y="1411224"/>
                  </a:lnTo>
                  <a:lnTo>
                    <a:pt x="0" y="1411224"/>
                  </a:lnTo>
                  <a:lnTo>
                    <a:pt x="0" y="0"/>
                  </a:lnTo>
                  <a:close/>
                </a:path>
              </a:pathLst>
            </a:custGeom>
            <a:blipFill>
              <a:blip r:embed="rId6"/>
              <a:stretch>
                <a:fillRect l="4460" t="16480" r="4525" b="13038"/>
              </a:stretch>
            </a:blipFill>
          </p:spPr>
        </p:sp>
      </p:grpSp>
      <p:grpSp>
        <p:nvGrpSpPr>
          <p:cNvPr name="Group 16" id="16"/>
          <p:cNvGrpSpPr/>
          <p:nvPr/>
        </p:nvGrpSpPr>
        <p:grpSpPr>
          <a:xfrm rot="0">
            <a:off x="13163255" y="1290514"/>
            <a:ext cx="1673752" cy="1272797"/>
            <a:chOff x="0" y="0"/>
            <a:chExt cx="2231669" cy="1697063"/>
          </a:xfrm>
        </p:grpSpPr>
        <p:sp>
          <p:nvSpPr>
            <p:cNvPr name="Freeform 17" id="17"/>
            <p:cNvSpPr/>
            <p:nvPr/>
          </p:nvSpPr>
          <p:spPr>
            <a:xfrm flipH="false" flipV="false" rot="0">
              <a:off x="0" y="0"/>
              <a:ext cx="2231644" cy="1697101"/>
            </a:xfrm>
            <a:custGeom>
              <a:avLst/>
              <a:gdLst/>
              <a:ahLst/>
              <a:cxnLst/>
              <a:rect r="r" b="b" t="t" l="l"/>
              <a:pathLst>
                <a:path h="1697101" w="2231644">
                  <a:moveTo>
                    <a:pt x="0" y="0"/>
                  </a:moveTo>
                  <a:lnTo>
                    <a:pt x="2231644" y="0"/>
                  </a:lnTo>
                  <a:lnTo>
                    <a:pt x="2231644" y="1697101"/>
                  </a:lnTo>
                  <a:lnTo>
                    <a:pt x="0" y="1697101"/>
                  </a:lnTo>
                  <a:lnTo>
                    <a:pt x="0" y="0"/>
                  </a:lnTo>
                  <a:close/>
                </a:path>
              </a:pathLst>
            </a:custGeom>
            <a:blipFill>
              <a:blip r:embed="rId7"/>
              <a:stretch>
                <a:fillRect l="-1" t="0" r="-2" b="2"/>
              </a:stretch>
            </a:blipFill>
          </p:spPr>
        </p:sp>
      </p:grpSp>
      <p:grpSp>
        <p:nvGrpSpPr>
          <p:cNvPr name="Group 18" id="18"/>
          <p:cNvGrpSpPr/>
          <p:nvPr/>
        </p:nvGrpSpPr>
        <p:grpSpPr>
          <a:xfrm rot="0">
            <a:off x="3450993" y="1395994"/>
            <a:ext cx="2354818" cy="1058447"/>
            <a:chOff x="0" y="0"/>
            <a:chExt cx="3139758" cy="1411262"/>
          </a:xfrm>
        </p:grpSpPr>
        <p:sp>
          <p:nvSpPr>
            <p:cNvPr name="Freeform 19" id="19"/>
            <p:cNvSpPr/>
            <p:nvPr/>
          </p:nvSpPr>
          <p:spPr>
            <a:xfrm flipH="false" flipV="false" rot="0">
              <a:off x="0" y="0"/>
              <a:ext cx="3139694" cy="1411224"/>
            </a:xfrm>
            <a:custGeom>
              <a:avLst/>
              <a:gdLst/>
              <a:ahLst/>
              <a:cxnLst/>
              <a:rect r="r" b="b" t="t" l="l"/>
              <a:pathLst>
                <a:path h="1411224" w="3139694">
                  <a:moveTo>
                    <a:pt x="0" y="0"/>
                  </a:moveTo>
                  <a:lnTo>
                    <a:pt x="3139694" y="0"/>
                  </a:lnTo>
                  <a:lnTo>
                    <a:pt x="3139694" y="1411224"/>
                  </a:lnTo>
                  <a:lnTo>
                    <a:pt x="0" y="1411224"/>
                  </a:lnTo>
                  <a:lnTo>
                    <a:pt x="0" y="0"/>
                  </a:lnTo>
                  <a:close/>
                </a:path>
              </a:pathLst>
            </a:custGeom>
            <a:blipFill>
              <a:blip r:embed="rId8"/>
              <a:stretch>
                <a:fillRect l="0" t="-1" r="-2" b="-3"/>
              </a:stretch>
            </a:blipFill>
          </p:spPr>
        </p:sp>
      </p:grpSp>
      <p:grpSp>
        <p:nvGrpSpPr>
          <p:cNvPr name="Group 20" id="20"/>
          <p:cNvGrpSpPr/>
          <p:nvPr/>
        </p:nvGrpSpPr>
        <p:grpSpPr>
          <a:xfrm rot="0">
            <a:off x="10479938" y="1463850"/>
            <a:ext cx="2245900" cy="926163"/>
            <a:chOff x="0" y="0"/>
            <a:chExt cx="2994533" cy="1234884"/>
          </a:xfrm>
        </p:grpSpPr>
        <p:sp>
          <p:nvSpPr>
            <p:cNvPr name="Freeform 21" id="21"/>
            <p:cNvSpPr/>
            <p:nvPr/>
          </p:nvSpPr>
          <p:spPr>
            <a:xfrm flipH="false" flipV="false" rot="0">
              <a:off x="0" y="0"/>
              <a:ext cx="2994533" cy="1234948"/>
            </a:xfrm>
            <a:custGeom>
              <a:avLst/>
              <a:gdLst/>
              <a:ahLst/>
              <a:cxnLst/>
              <a:rect r="r" b="b" t="t" l="l"/>
              <a:pathLst>
                <a:path h="1234948" w="2994533">
                  <a:moveTo>
                    <a:pt x="0" y="0"/>
                  </a:moveTo>
                  <a:lnTo>
                    <a:pt x="2994533" y="0"/>
                  </a:lnTo>
                  <a:lnTo>
                    <a:pt x="2994533" y="1234948"/>
                  </a:lnTo>
                  <a:lnTo>
                    <a:pt x="0" y="1234948"/>
                  </a:lnTo>
                  <a:lnTo>
                    <a:pt x="0" y="0"/>
                  </a:lnTo>
                  <a:close/>
                </a:path>
              </a:pathLst>
            </a:custGeom>
            <a:blipFill>
              <a:blip r:embed="rId9"/>
              <a:stretch>
                <a:fillRect l="0" t="0" r="0" b="5"/>
              </a:stretch>
            </a:blipFill>
          </p:spPr>
        </p:sp>
      </p:grpSp>
      <p:sp>
        <p:nvSpPr>
          <p:cNvPr name="TextBox 22" id="22"/>
          <p:cNvSpPr txBox="true"/>
          <p:nvPr/>
        </p:nvSpPr>
        <p:spPr>
          <a:xfrm rot="0">
            <a:off x="8958060" y="6538027"/>
            <a:ext cx="7971256" cy="438150"/>
          </a:xfrm>
          <a:prstGeom prst="rect">
            <a:avLst/>
          </a:prstGeom>
        </p:spPr>
        <p:txBody>
          <a:bodyPr anchor="t" rtlCol="false" tIns="0" lIns="0" bIns="0" rIns="0">
            <a:spAutoFit/>
          </a:bodyPr>
          <a:lstStyle/>
          <a:p>
            <a:pPr algn="ctr">
              <a:lnSpc>
                <a:spcPts val="3427"/>
              </a:lnSpc>
              <a:spcBef>
                <a:spcPct val="0"/>
              </a:spcBef>
            </a:pPr>
            <a:r>
              <a:rPr lang="en-US" sz="2856">
                <a:solidFill>
                  <a:srgbClr val="FFFFFF"/>
                </a:solidFill>
                <a:latin typeface="IBM Plex Sans Arabic"/>
                <a:ea typeface="IBM Plex Sans Arabic"/>
                <a:cs typeface="IBM Plex Sans Arabic"/>
                <a:sym typeface="IBM Plex Sans Arabic"/>
              </a:rPr>
              <a:t>Advanced Aerial Threat Detection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6EDEA"/>
        </a:solidFill>
      </p:bgPr>
    </p:bg>
    <p:spTree>
      <p:nvGrpSpPr>
        <p:cNvPr id="1" name=""/>
        <p:cNvGrpSpPr/>
        <p:nvPr/>
      </p:nvGrpSpPr>
      <p:grpSpPr>
        <a:xfrm>
          <a:off x="0" y="0"/>
          <a:ext cx="0" cy="0"/>
          <a:chOff x="0" y="0"/>
          <a:chExt cx="0" cy="0"/>
        </a:xfrm>
      </p:grpSpPr>
      <p:grpSp>
        <p:nvGrpSpPr>
          <p:cNvPr name="Group 2" id="2"/>
          <p:cNvGrpSpPr/>
          <p:nvPr/>
        </p:nvGrpSpPr>
        <p:grpSpPr>
          <a:xfrm rot="0">
            <a:off x="0" y="0"/>
            <a:ext cx="6871002" cy="10287000"/>
            <a:chOff x="0" y="0"/>
            <a:chExt cx="9161336" cy="13716000"/>
          </a:xfrm>
        </p:grpSpPr>
        <p:sp>
          <p:nvSpPr>
            <p:cNvPr name="Freeform 3" id="3"/>
            <p:cNvSpPr/>
            <p:nvPr/>
          </p:nvSpPr>
          <p:spPr>
            <a:xfrm flipH="false" flipV="false" rot="0">
              <a:off x="0" y="0"/>
              <a:ext cx="9161272" cy="13716000"/>
            </a:xfrm>
            <a:custGeom>
              <a:avLst/>
              <a:gdLst/>
              <a:ahLst/>
              <a:cxnLst/>
              <a:rect r="r" b="b" t="t" l="l"/>
              <a:pathLst>
                <a:path h="13716000" w="9161272">
                  <a:moveTo>
                    <a:pt x="0" y="0"/>
                  </a:moveTo>
                  <a:lnTo>
                    <a:pt x="9161272" y="0"/>
                  </a:lnTo>
                  <a:lnTo>
                    <a:pt x="9161272" y="13716000"/>
                  </a:lnTo>
                  <a:lnTo>
                    <a:pt x="0" y="13716000"/>
                  </a:lnTo>
                  <a:lnTo>
                    <a:pt x="0" y="0"/>
                  </a:lnTo>
                  <a:close/>
                </a:path>
              </a:pathLst>
            </a:custGeom>
            <a:blipFill>
              <a:blip r:embed="rId3"/>
              <a:stretch>
                <a:fillRect l="-86765" t="-7499" r="6252" b="-13069"/>
              </a:stretch>
            </a:blipFill>
          </p:spPr>
        </p:sp>
      </p:grpSp>
      <p:sp>
        <p:nvSpPr>
          <p:cNvPr name="TextBox 4" id="4"/>
          <p:cNvSpPr txBox="true"/>
          <p:nvPr/>
        </p:nvSpPr>
        <p:spPr>
          <a:xfrm rot="0">
            <a:off x="12687824" y="1007650"/>
            <a:ext cx="4457681" cy="910139"/>
          </a:xfrm>
          <a:prstGeom prst="rect">
            <a:avLst/>
          </a:prstGeom>
        </p:spPr>
        <p:txBody>
          <a:bodyPr anchor="t" rtlCol="false" tIns="0" lIns="0" bIns="0" rIns="0">
            <a:spAutoFit/>
          </a:bodyPr>
          <a:lstStyle/>
          <a:p>
            <a:pPr algn="r" rtl="true">
              <a:lnSpc>
                <a:spcPts val="7679"/>
              </a:lnSpc>
            </a:pPr>
            <a:r>
              <a:rPr lang="ar-EG" b="true" sz="4872">
                <a:solidFill>
                  <a:srgbClr val="08784E"/>
                </a:solidFill>
                <a:latin typeface="IBM Plex Sans Arabic Bold"/>
                <a:ea typeface="IBM Plex Sans Arabic Bold"/>
                <a:cs typeface="IBM Plex Sans Arabic Bold"/>
                <a:sym typeface="IBM Plex Sans Arabic Bold"/>
                <a:rtl val="true"/>
              </a:rPr>
              <a:t>تعريف نظامنا:</a:t>
            </a:r>
          </a:p>
        </p:txBody>
      </p:sp>
      <p:sp>
        <p:nvSpPr>
          <p:cNvPr name="TextBox 5" id="5"/>
          <p:cNvSpPr txBox="true"/>
          <p:nvPr/>
        </p:nvSpPr>
        <p:spPr>
          <a:xfrm rot="0">
            <a:off x="1239796" y="3022502"/>
            <a:ext cx="15808408" cy="1359286"/>
          </a:xfrm>
          <a:prstGeom prst="rect">
            <a:avLst/>
          </a:prstGeom>
        </p:spPr>
        <p:txBody>
          <a:bodyPr anchor="t" rtlCol="false" tIns="0" lIns="0" bIns="0" rIns="0">
            <a:spAutoFit/>
          </a:bodyPr>
          <a:lstStyle/>
          <a:p>
            <a:pPr algn="r" rtl="true">
              <a:lnSpc>
                <a:spcPts val="3618"/>
              </a:lnSpc>
            </a:pPr>
            <a:r>
              <a:rPr lang="ar-EG" sz="2622">
                <a:solidFill>
                  <a:srgbClr val="102E29"/>
                </a:solidFill>
                <a:latin typeface="IBM Plex Sans Arabic"/>
                <a:ea typeface="IBM Plex Sans Arabic"/>
                <a:cs typeface="IBM Plex Sans Arabic"/>
                <a:sym typeface="IBM Plex Sans Arabic"/>
                <a:rtl val="true"/>
              </a:rPr>
              <a:t>نظام</a:t>
            </a:r>
            <a:r>
              <a:rPr lang="ar-EG" sz="2622">
                <a:solidFill>
                  <a:srgbClr val="102E29"/>
                </a:solidFill>
                <a:latin typeface="IBM Plex Sans Arabic"/>
                <a:ea typeface="IBM Plex Sans Arabic"/>
                <a:cs typeface="IBM Plex Sans Arabic"/>
                <a:sym typeface="IBM Plex Sans Arabic"/>
                <a:rtl val="true"/>
              </a:rPr>
              <a:t> ذكاء اصطناعي متصل بكاميرات متوزعة في المنشآت العسكرية و المناطق المشبوهة يقوم باكتشاف أي جسم خطر في السماء مثل المسيرات و الدرون و الصواريخ و اكثر ويطلق إنذاراً لوزارة الدفاع مع ذكر نوع الخطر, و يمكنك الاطلاع على الإنذارات السابقة و معرفة نوع الخطر و إحداثيات الخطر أو تحميل صورة و فيديو للخطر و تحميل ملف نص لمعلومات الخطر كلها.</a:t>
            </a:r>
          </a:p>
        </p:txBody>
      </p:sp>
      <p:grpSp>
        <p:nvGrpSpPr>
          <p:cNvPr name="Group 6" id="6"/>
          <p:cNvGrpSpPr/>
          <p:nvPr/>
        </p:nvGrpSpPr>
        <p:grpSpPr>
          <a:xfrm rot="0">
            <a:off x="3602702" y="5714752"/>
            <a:ext cx="11082595" cy="3343943"/>
            <a:chOff x="0" y="0"/>
            <a:chExt cx="14776794" cy="4458590"/>
          </a:xfrm>
        </p:grpSpPr>
        <p:grpSp>
          <p:nvGrpSpPr>
            <p:cNvPr name="Group 7" id="7"/>
            <p:cNvGrpSpPr/>
            <p:nvPr/>
          </p:nvGrpSpPr>
          <p:grpSpPr>
            <a:xfrm rot="0">
              <a:off x="0" y="59120"/>
              <a:ext cx="8252816" cy="4398309"/>
              <a:chOff x="0" y="0"/>
              <a:chExt cx="5366397" cy="2860002"/>
            </a:xfrm>
          </p:grpSpPr>
          <p:sp>
            <p:nvSpPr>
              <p:cNvPr name="Freeform 8" id="8"/>
              <p:cNvSpPr/>
              <p:nvPr/>
            </p:nvSpPr>
            <p:spPr>
              <a:xfrm flipH="false" flipV="false" rot="0">
                <a:off x="0" y="0"/>
                <a:ext cx="5366349" cy="2860040"/>
              </a:xfrm>
              <a:custGeom>
                <a:avLst/>
                <a:gdLst/>
                <a:ahLst/>
                <a:cxnLst/>
                <a:rect r="r" b="b" t="t" l="l"/>
                <a:pathLst>
                  <a:path h="2860040" w="5366349">
                    <a:moveTo>
                      <a:pt x="190826" y="0"/>
                    </a:moveTo>
                    <a:lnTo>
                      <a:pt x="5175523" y="0"/>
                    </a:lnTo>
                    <a:cubicBezTo>
                      <a:pt x="5226133" y="0"/>
                      <a:pt x="5274671" y="20105"/>
                      <a:pt x="5310458" y="55892"/>
                    </a:cubicBezTo>
                    <a:cubicBezTo>
                      <a:pt x="5346244" y="91678"/>
                      <a:pt x="5366349" y="140216"/>
                      <a:pt x="5366349" y="190826"/>
                    </a:cubicBezTo>
                    <a:lnTo>
                      <a:pt x="5366349" y="2669214"/>
                    </a:lnTo>
                    <a:cubicBezTo>
                      <a:pt x="5366349" y="2774604"/>
                      <a:pt x="5280914" y="2860040"/>
                      <a:pt x="5175523" y="2860040"/>
                    </a:cubicBezTo>
                    <a:lnTo>
                      <a:pt x="190826" y="2860040"/>
                    </a:lnTo>
                    <a:cubicBezTo>
                      <a:pt x="85436" y="2860040"/>
                      <a:pt x="0" y="2774604"/>
                      <a:pt x="0" y="2669214"/>
                    </a:cubicBezTo>
                    <a:lnTo>
                      <a:pt x="0" y="190826"/>
                    </a:lnTo>
                    <a:cubicBezTo>
                      <a:pt x="0" y="85436"/>
                      <a:pt x="85436" y="0"/>
                      <a:pt x="190826" y="0"/>
                    </a:cubicBezTo>
                    <a:close/>
                  </a:path>
                </a:pathLst>
              </a:custGeom>
              <a:blipFill>
                <a:blip r:embed="rId4"/>
                <a:stretch>
                  <a:fillRect l="-890" t="0" r="-890" b="0"/>
                </a:stretch>
              </a:blipFill>
            </p:spPr>
          </p:sp>
        </p:grpSp>
        <p:grpSp>
          <p:nvGrpSpPr>
            <p:cNvPr name="Group 9" id="9"/>
            <p:cNvGrpSpPr/>
            <p:nvPr/>
          </p:nvGrpSpPr>
          <p:grpSpPr>
            <a:xfrm rot="0">
              <a:off x="2917014" y="0"/>
              <a:ext cx="11859780" cy="4458590"/>
              <a:chOff x="0" y="0"/>
              <a:chExt cx="7711827" cy="2899200"/>
            </a:xfrm>
          </p:grpSpPr>
          <p:sp>
            <p:nvSpPr>
              <p:cNvPr name="Freeform 10" id="10"/>
              <p:cNvSpPr/>
              <p:nvPr/>
            </p:nvSpPr>
            <p:spPr>
              <a:xfrm flipH="false" flipV="false" rot="0">
                <a:off x="0" y="0"/>
                <a:ext cx="7711802" cy="2899289"/>
              </a:xfrm>
              <a:custGeom>
                <a:avLst/>
                <a:gdLst/>
                <a:ahLst/>
                <a:cxnLst/>
                <a:rect r="r" b="b" t="t" l="l"/>
                <a:pathLst>
                  <a:path h="2899289" w="7711802">
                    <a:moveTo>
                      <a:pt x="0" y="483236"/>
                    </a:moveTo>
                    <a:cubicBezTo>
                      <a:pt x="0" y="216281"/>
                      <a:pt x="203783" y="0"/>
                      <a:pt x="455311" y="0"/>
                    </a:cubicBezTo>
                    <a:lnTo>
                      <a:pt x="7256492" y="0"/>
                    </a:lnTo>
                    <a:cubicBezTo>
                      <a:pt x="7507900" y="0"/>
                      <a:pt x="7711802" y="216281"/>
                      <a:pt x="7711802" y="483236"/>
                    </a:cubicBezTo>
                    <a:lnTo>
                      <a:pt x="7711802" y="2416053"/>
                    </a:lnTo>
                    <a:cubicBezTo>
                      <a:pt x="7711802" y="2682880"/>
                      <a:pt x="7508020" y="2899289"/>
                      <a:pt x="7256492" y="2899289"/>
                    </a:cubicBezTo>
                    <a:lnTo>
                      <a:pt x="455311" y="2899289"/>
                    </a:lnTo>
                    <a:cubicBezTo>
                      <a:pt x="203783" y="2899162"/>
                      <a:pt x="0" y="2682880"/>
                      <a:pt x="0" y="2416053"/>
                    </a:cubicBezTo>
                    <a:close/>
                  </a:path>
                </a:pathLst>
              </a:custGeom>
              <a:gradFill rotWithShape="true">
                <a:gsLst>
                  <a:gs pos="0">
                    <a:srgbClr val="102E29">
                      <a:alpha val="0"/>
                    </a:srgbClr>
                  </a:gs>
                  <a:gs pos="47000">
                    <a:srgbClr val="102E29">
                      <a:alpha val="100000"/>
                    </a:srgbClr>
                  </a:gs>
                  <a:gs pos="100000">
                    <a:srgbClr val="102E29">
                      <a:alpha val="100000"/>
                    </a:srgbClr>
                  </a:gs>
                </a:gsLst>
                <a:lin ang="0"/>
              </a:gradFill>
            </p:spPr>
          </p:sp>
          <p:sp>
            <p:nvSpPr>
              <p:cNvPr name="TextBox 11" id="11"/>
              <p:cNvSpPr txBox="true"/>
              <p:nvPr/>
            </p:nvSpPr>
            <p:spPr>
              <a:xfrm>
                <a:off x="0" y="-38100"/>
                <a:ext cx="7711827" cy="2937300"/>
              </a:xfrm>
              <a:prstGeom prst="rect">
                <a:avLst/>
              </a:prstGeom>
            </p:spPr>
            <p:txBody>
              <a:bodyPr anchor="ctr" rtlCol="false" tIns="78124" lIns="78124" bIns="78124" rIns="78124"/>
              <a:lstStyle/>
              <a:p>
                <a:pPr algn="r" rtl="true">
                  <a:lnSpc>
                    <a:spcPts val="3999"/>
                  </a:lnSpc>
                </a:pPr>
                <a:r>
                  <a:rPr lang="ar-EG" sz="2898">
                    <a:solidFill>
                      <a:srgbClr val="2CAE7D"/>
                    </a:solidFill>
                    <a:latin typeface="IBM Plex Sans Arabic"/>
                    <a:ea typeface="IBM Plex Sans Arabic"/>
                    <a:cs typeface="IBM Plex Sans Arabic"/>
                    <a:sym typeface="IBM Plex Sans Arabic"/>
                    <a:rtl val="true"/>
                  </a:rPr>
                  <a:t>✦</a:t>
                </a:r>
                <a:r>
                  <a:rPr lang="ar-EG" sz="2898">
                    <a:solidFill>
                      <a:srgbClr val="FFFFFF"/>
                    </a:solidFill>
                    <a:latin typeface="IBM Plex Sans Arabic"/>
                    <a:ea typeface="IBM Plex Sans Arabic"/>
                    <a:cs typeface="IBM Plex Sans Arabic"/>
                    <a:sym typeface="IBM Plex Sans Arabic"/>
                    <a:rtl val="true"/>
                  </a:rPr>
                  <a:t>   </a:t>
                </a:r>
                <a:r>
                  <a:rPr lang="ar-EG" b="true" sz="2898">
                    <a:solidFill>
                      <a:srgbClr val="FFFFFF"/>
                    </a:solidFill>
                    <a:latin typeface="IBM Plex Sans Arabic Bold"/>
                    <a:ea typeface="IBM Plex Sans Arabic Bold"/>
                    <a:cs typeface="IBM Plex Sans Arabic Bold"/>
                    <a:sym typeface="IBM Plex Sans Arabic Bold"/>
                    <a:rtl val="true"/>
                  </a:rPr>
                  <a:t>نموذج اولي لواجهة النظام.</a:t>
                </a:r>
              </a:p>
            </p:txBody>
          </p:sp>
        </p:gr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6EDEA"/>
        </a:solidFill>
      </p:bgPr>
    </p:bg>
    <p:spTree>
      <p:nvGrpSpPr>
        <p:cNvPr id="1" name=""/>
        <p:cNvGrpSpPr/>
        <p:nvPr/>
      </p:nvGrpSpPr>
      <p:grpSpPr>
        <a:xfrm>
          <a:off x="0" y="0"/>
          <a:ext cx="0" cy="0"/>
          <a:chOff x="0" y="0"/>
          <a:chExt cx="0" cy="0"/>
        </a:xfrm>
      </p:grpSpPr>
      <p:grpSp>
        <p:nvGrpSpPr>
          <p:cNvPr name="Group 2" id="2"/>
          <p:cNvGrpSpPr/>
          <p:nvPr/>
        </p:nvGrpSpPr>
        <p:grpSpPr>
          <a:xfrm rot="0">
            <a:off x="0" y="0"/>
            <a:ext cx="6871002" cy="10287000"/>
            <a:chOff x="0" y="0"/>
            <a:chExt cx="9161336" cy="13716000"/>
          </a:xfrm>
        </p:grpSpPr>
        <p:sp>
          <p:nvSpPr>
            <p:cNvPr name="Freeform 3" id="3"/>
            <p:cNvSpPr/>
            <p:nvPr/>
          </p:nvSpPr>
          <p:spPr>
            <a:xfrm flipH="false" flipV="false" rot="0">
              <a:off x="0" y="0"/>
              <a:ext cx="9161272" cy="13716000"/>
            </a:xfrm>
            <a:custGeom>
              <a:avLst/>
              <a:gdLst/>
              <a:ahLst/>
              <a:cxnLst/>
              <a:rect r="r" b="b" t="t" l="l"/>
              <a:pathLst>
                <a:path h="13716000" w="9161272">
                  <a:moveTo>
                    <a:pt x="0" y="0"/>
                  </a:moveTo>
                  <a:lnTo>
                    <a:pt x="9161272" y="0"/>
                  </a:lnTo>
                  <a:lnTo>
                    <a:pt x="9161272" y="13716000"/>
                  </a:lnTo>
                  <a:lnTo>
                    <a:pt x="0" y="13716000"/>
                  </a:lnTo>
                  <a:lnTo>
                    <a:pt x="0" y="0"/>
                  </a:lnTo>
                  <a:close/>
                </a:path>
              </a:pathLst>
            </a:custGeom>
            <a:blipFill>
              <a:blip r:embed="rId3"/>
              <a:stretch>
                <a:fillRect l="-86765" t="-7499" r="6252" b="-13069"/>
              </a:stretch>
            </a:blipFill>
          </p:spPr>
        </p:sp>
      </p:grpSp>
      <p:grpSp>
        <p:nvGrpSpPr>
          <p:cNvPr name="Group 4" id="4"/>
          <p:cNvGrpSpPr/>
          <p:nvPr/>
        </p:nvGrpSpPr>
        <p:grpSpPr>
          <a:xfrm rot="5400000">
            <a:off x="15986711" y="7603798"/>
            <a:ext cx="313487" cy="470878"/>
            <a:chOff x="0" y="0"/>
            <a:chExt cx="417982" cy="627837"/>
          </a:xfrm>
        </p:grpSpPr>
        <p:sp>
          <p:nvSpPr>
            <p:cNvPr name="Freeform 5" id="5"/>
            <p:cNvSpPr/>
            <p:nvPr/>
          </p:nvSpPr>
          <p:spPr>
            <a:xfrm flipH="false" flipV="false" rot="0">
              <a:off x="0" y="0"/>
              <a:ext cx="417957" cy="627888"/>
            </a:xfrm>
            <a:custGeom>
              <a:avLst/>
              <a:gdLst/>
              <a:ahLst/>
              <a:cxnLst/>
              <a:rect r="r" b="b" t="t" l="l"/>
              <a:pathLst>
                <a:path h="627888" w="417957">
                  <a:moveTo>
                    <a:pt x="0" y="0"/>
                  </a:moveTo>
                  <a:lnTo>
                    <a:pt x="417957" y="0"/>
                  </a:lnTo>
                  <a:lnTo>
                    <a:pt x="417957" y="502285"/>
                  </a:lnTo>
                  <a:lnTo>
                    <a:pt x="209042" y="627888"/>
                  </a:lnTo>
                  <a:lnTo>
                    <a:pt x="0" y="502285"/>
                  </a:lnTo>
                  <a:close/>
                </a:path>
              </a:pathLst>
            </a:custGeom>
            <a:solidFill>
              <a:srgbClr val="2CAE7D"/>
            </a:solidFill>
          </p:spPr>
        </p:sp>
      </p:grpSp>
      <p:grpSp>
        <p:nvGrpSpPr>
          <p:cNvPr name="Group 6" id="6"/>
          <p:cNvGrpSpPr/>
          <p:nvPr/>
        </p:nvGrpSpPr>
        <p:grpSpPr>
          <a:xfrm rot="5400000">
            <a:off x="7675550" y="7603798"/>
            <a:ext cx="313487" cy="470878"/>
            <a:chOff x="0" y="0"/>
            <a:chExt cx="417982" cy="627837"/>
          </a:xfrm>
        </p:grpSpPr>
        <p:sp>
          <p:nvSpPr>
            <p:cNvPr name="Freeform 7" id="7"/>
            <p:cNvSpPr/>
            <p:nvPr/>
          </p:nvSpPr>
          <p:spPr>
            <a:xfrm flipH="false" flipV="false" rot="0">
              <a:off x="0" y="0"/>
              <a:ext cx="417957" cy="627888"/>
            </a:xfrm>
            <a:custGeom>
              <a:avLst/>
              <a:gdLst/>
              <a:ahLst/>
              <a:cxnLst/>
              <a:rect r="r" b="b" t="t" l="l"/>
              <a:pathLst>
                <a:path h="627888" w="417957">
                  <a:moveTo>
                    <a:pt x="0" y="0"/>
                  </a:moveTo>
                  <a:lnTo>
                    <a:pt x="417957" y="0"/>
                  </a:lnTo>
                  <a:lnTo>
                    <a:pt x="417957" y="502285"/>
                  </a:lnTo>
                  <a:lnTo>
                    <a:pt x="209042" y="627888"/>
                  </a:lnTo>
                  <a:lnTo>
                    <a:pt x="0" y="502285"/>
                  </a:lnTo>
                  <a:close/>
                </a:path>
              </a:pathLst>
            </a:custGeom>
            <a:solidFill>
              <a:srgbClr val="2CAE7D"/>
            </a:solidFill>
          </p:spPr>
        </p:sp>
      </p:grpSp>
      <p:grpSp>
        <p:nvGrpSpPr>
          <p:cNvPr name="Group 8" id="8"/>
          <p:cNvGrpSpPr/>
          <p:nvPr/>
        </p:nvGrpSpPr>
        <p:grpSpPr>
          <a:xfrm rot="0">
            <a:off x="10216896" y="2925299"/>
            <a:ext cx="5552303" cy="4436402"/>
            <a:chOff x="0" y="0"/>
            <a:chExt cx="7403071" cy="5915203"/>
          </a:xfrm>
        </p:grpSpPr>
        <p:sp>
          <p:nvSpPr>
            <p:cNvPr name="Freeform 9" id="9"/>
            <p:cNvSpPr/>
            <p:nvPr/>
          </p:nvSpPr>
          <p:spPr>
            <a:xfrm flipH="false" flipV="false" rot="0">
              <a:off x="0" y="0"/>
              <a:ext cx="7403084" cy="5915152"/>
            </a:xfrm>
            <a:custGeom>
              <a:avLst/>
              <a:gdLst/>
              <a:ahLst/>
              <a:cxnLst/>
              <a:rect r="r" b="b" t="t" l="l"/>
              <a:pathLst>
                <a:path h="5915152" w="7403084">
                  <a:moveTo>
                    <a:pt x="0" y="0"/>
                  </a:moveTo>
                  <a:lnTo>
                    <a:pt x="7403084" y="0"/>
                  </a:lnTo>
                  <a:lnTo>
                    <a:pt x="7403084" y="5915152"/>
                  </a:lnTo>
                  <a:lnTo>
                    <a:pt x="0" y="5915152"/>
                  </a:lnTo>
                  <a:lnTo>
                    <a:pt x="0" y="0"/>
                  </a:lnTo>
                  <a:close/>
                </a:path>
              </a:pathLst>
            </a:custGeom>
            <a:blipFill>
              <a:blip r:embed="rId4"/>
              <a:stretch>
                <a:fillRect l="0" t="-1233" r="0" b="-1233"/>
              </a:stretch>
            </a:blipFill>
          </p:spPr>
        </p:sp>
      </p:grpSp>
      <p:sp>
        <p:nvSpPr>
          <p:cNvPr name="TextBox 10" id="10"/>
          <p:cNvSpPr txBox="true"/>
          <p:nvPr/>
        </p:nvSpPr>
        <p:spPr>
          <a:xfrm rot="0">
            <a:off x="1952968" y="911330"/>
            <a:ext cx="14382063" cy="910139"/>
          </a:xfrm>
          <a:prstGeom prst="rect">
            <a:avLst/>
          </a:prstGeom>
        </p:spPr>
        <p:txBody>
          <a:bodyPr anchor="t" rtlCol="false" tIns="0" lIns="0" bIns="0" rIns="0">
            <a:spAutoFit/>
          </a:bodyPr>
          <a:lstStyle/>
          <a:p>
            <a:pPr algn="r" rtl="true">
              <a:lnSpc>
                <a:spcPts val="7679"/>
              </a:lnSpc>
            </a:pPr>
            <a:r>
              <a:rPr lang="ar-EG" sz="4872" b="true">
                <a:solidFill>
                  <a:srgbClr val="08784E"/>
                </a:solidFill>
                <a:latin typeface="IBM Plex Sans Arabic Bold"/>
                <a:ea typeface="IBM Plex Sans Arabic Bold"/>
                <a:cs typeface="IBM Plex Sans Arabic Bold"/>
                <a:sym typeface="IBM Plex Sans Arabic Bold"/>
                <a:rtl val="true"/>
              </a:rPr>
              <a:t>كيف تعمل الرادارات الحالية و الرادارات مع نموذج </a:t>
            </a:r>
            <a:r>
              <a:rPr lang="en-US" sz="4872" b="true">
                <a:solidFill>
                  <a:srgbClr val="08784E"/>
                </a:solidFill>
                <a:latin typeface="IBM Plex Sans Arabic Bold"/>
                <a:ea typeface="IBM Plex Sans Arabic Bold"/>
                <a:cs typeface="IBM Plex Sans Arabic Bold"/>
                <a:sym typeface="IBM Plex Sans Arabic Bold"/>
              </a:rPr>
              <a:t>A.A.T.D</a:t>
            </a:r>
            <a:r>
              <a:rPr lang="ar-EG" sz="4872" b="true">
                <a:solidFill>
                  <a:srgbClr val="08784E"/>
                </a:solidFill>
                <a:latin typeface="IBM Plex Sans Arabic Bold"/>
                <a:ea typeface="IBM Plex Sans Arabic Bold"/>
                <a:cs typeface="IBM Plex Sans Arabic Bold"/>
                <a:sym typeface="IBM Plex Sans Arabic Bold"/>
                <a:rtl val="true"/>
              </a:rPr>
              <a:t>:</a:t>
            </a:r>
          </a:p>
        </p:txBody>
      </p:sp>
      <p:sp>
        <p:nvSpPr>
          <p:cNvPr name="TextBox 11" id="11"/>
          <p:cNvSpPr txBox="true"/>
          <p:nvPr/>
        </p:nvSpPr>
        <p:spPr>
          <a:xfrm rot="0">
            <a:off x="819089" y="7634868"/>
            <a:ext cx="6634890" cy="1890400"/>
          </a:xfrm>
          <a:prstGeom prst="rect">
            <a:avLst/>
          </a:prstGeom>
        </p:spPr>
        <p:txBody>
          <a:bodyPr anchor="t" rtlCol="false" tIns="0" lIns="0" bIns="0" rIns="0">
            <a:spAutoFit/>
          </a:bodyPr>
          <a:lstStyle/>
          <a:p>
            <a:pPr algn="r" rtl="true">
              <a:lnSpc>
                <a:spcPts val="3756"/>
              </a:lnSpc>
            </a:pPr>
            <a:r>
              <a:rPr lang="en-US" sz="2721">
                <a:solidFill>
                  <a:srgbClr val="102E29"/>
                </a:solidFill>
                <a:latin typeface="IBM Plex Sans Arabic"/>
                <a:ea typeface="IBM Plex Sans Arabic"/>
                <a:cs typeface="IBM Plex Sans Arabic"/>
                <a:sym typeface="IBM Plex Sans Arabic"/>
              </a:rPr>
              <a:t>١</a:t>
            </a:r>
            <a:r>
              <a:rPr lang="ar-EG" sz="2721">
                <a:solidFill>
                  <a:srgbClr val="102E29"/>
                </a:solidFill>
                <a:latin typeface="IBM Plex Sans Arabic"/>
                <a:ea typeface="IBM Plex Sans Arabic"/>
                <a:cs typeface="IBM Plex Sans Arabic"/>
                <a:sym typeface="IBM Plex Sans Arabic"/>
                <a:rtl val="true"/>
              </a:rPr>
              <a:t>. الكاميرات ترصد أي جسم مشبوه بشكل مستمر.</a:t>
            </a:r>
          </a:p>
          <a:p>
            <a:pPr algn="r" rtl="true">
              <a:lnSpc>
                <a:spcPts val="3756"/>
              </a:lnSpc>
            </a:pPr>
            <a:r>
              <a:rPr lang="ar-EG" sz="2721">
                <a:solidFill>
                  <a:srgbClr val="102E29"/>
                </a:solidFill>
                <a:latin typeface="IBM Plex Sans Arabic"/>
                <a:ea typeface="IBM Plex Sans Arabic"/>
                <a:cs typeface="IBM Plex Sans Arabic"/>
                <a:sym typeface="IBM Plex Sans Arabic"/>
                <a:rtl val="true"/>
              </a:rPr>
              <a:t> </a:t>
            </a:r>
            <a:r>
              <a:rPr lang="en-US" sz="2721">
                <a:solidFill>
                  <a:srgbClr val="102E29"/>
                </a:solidFill>
                <a:latin typeface="IBM Plex Sans Arabic"/>
                <a:ea typeface="IBM Plex Sans Arabic"/>
                <a:cs typeface="IBM Plex Sans Arabic"/>
                <a:sym typeface="IBM Plex Sans Arabic"/>
              </a:rPr>
              <a:t>٢</a:t>
            </a:r>
            <a:r>
              <a:rPr lang="ar-EG" sz="2721">
                <a:solidFill>
                  <a:srgbClr val="102E29"/>
                </a:solidFill>
                <a:latin typeface="IBM Plex Sans Arabic"/>
                <a:ea typeface="IBM Plex Sans Arabic"/>
                <a:cs typeface="IBM Plex Sans Arabic"/>
                <a:sym typeface="IBM Plex Sans Arabic"/>
                <a:rtl val="true"/>
              </a:rPr>
              <a:t>. الذكاء الاصطناعي يحلل ويصنّف التهديد فورياً. </a:t>
            </a:r>
          </a:p>
          <a:p>
            <a:pPr algn="r" rtl="true">
              <a:lnSpc>
                <a:spcPts val="3756"/>
              </a:lnSpc>
            </a:pPr>
            <a:r>
              <a:rPr lang="en-US" sz="2721">
                <a:solidFill>
                  <a:srgbClr val="102E29"/>
                </a:solidFill>
                <a:latin typeface="IBM Plex Sans Arabic"/>
                <a:ea typeface="IBM Plex Sans Arabic"/>
                <a:cs typeface="IBM Plex Sans Arabic"/>
                <a:sym typeface="IBM Plex Sans Arabic"/>
              </a:rPr>
              <a:t>٣</a:t>
            </a:r>
            <a:r>
              <a:rPr lang="ar-EG" sz="2721">
                <a:solidFill>
                  <a:srgbClr val="102E29"/>
                </a:solidFill>
                <a:latin typeface="IBM Plex Sans Arabic"/>
                <a:ea typeface="IBM Plex Sans Arabic"/>
                <a:cs typeface="IBM Plex Sans Arabic"/>
                <a:sym typeface="IBM Plex Sans Arabic"/>
                <a:rtl val="true"/>
              </a:rPr>
              <a:t>. النظام يُطلق إنذاراً ويرسل تقريرا مع تحديد نوع الخطر وموقعه لوزارة الدفاع</a:t>
            </a:r>
          </a:p>
        </p:txBody>
      </p:sp>
      <p:sp>
        <p:nvSpPr>
          <p:cNvPr name="TextBox 12" id="12"/>
          <p:cNvSpPr txBox="true"/>
          <p:nvPr/>
        </p:nvSpPr>
        <p:spPr>
          <a:xfrm rot="0">
            <a:off x="10352648" y="7542676"/>
            <a:ext cx="5416552" cy="2273686"/>
          </a:xfrm>
          <a:prstGeom prst="rect">
            <a:avLst/>
          </a:prstGeom>
        </p:spPr>
        <p:txBody>
          <a:bodyPr anchor="t" rtlCol="false" tIns="0" lIns="0" bIns="0" rIns="0">
            <a:spAutoFit/>
          </a:bodyPr>
          <a:lstStyle/>
          <a:p>
            <a:pPr algn="r" rtl="true">
              <a:lnSpc>
                <a:spcPts val="3618"/>
              </a:lnSpc>
            </a:pPr>
            <a:r>
              <a:rPr lang="ar-EG" sz="2621">
                <a:solidFill>
                  <a:srgbClr val="102E29"/>
                </a:solidFill>
                <a:latin typeface="IBM Plex Sans Arabic"/>
                <a:ea typeface="IBM Plex Sans Arabic"/>
                <a:cs typeface="IBM Plex Sans Arabic"/>
                <a:sym typeface="IBM Plex Sans Arabic"/>
                <a:rtl val="true"/>
              </a:rPr>
              <a:t>الرادار</a:t>
            </a:r>
            <a:r>
              <a:rPr lang="ar-EG" sz="2621">
                <a:solidFill>
                  <a:srgbClr val="102E29"/>
                </a:solidFill>
                <a:latin typeface="IBM Plex Sans Arabic"/>
                <a:ea typeface="IBM Plex Sans Arabic"/>
                <a:cs typeface="IBM Plex Sans Arabic"/>
                <a:sym typeface="IBM Plex Sans Arabic"/>
                <a:rtl val="true"/>
              </a:rPr>
              <a:t> جهاز يعمل على إرسال موجات راديوية نحو الأجسام ثم استقبال صداها. من خلال قياس الوقت المستغرق لعودة الصدى يمكن تحديد المسافة والاتجاه. كما يُحدد سرعة الأجسام عبر مبدأ تأثير دوبلر في تغيّر التردد.</a:t>
            </a:r>
          </a:p>
        </p:txBody>
      </p:sp>
      <p:sp>
        <p:nvSpPr>
          <p:cNvPr name="TextBox 13" id="13"/>
          <p:cNvSpPr txBox="true"/>
          <p:nvPr/>
        </p:nvSpPr>
        <p:spPr>
          <a:xfrm rot="0">
            <a:off x="12755331" y="2154844"/>
            <a:ext cx="3013869" cy="542925"/>
          </a:xfrm>
          <a:prstGeom prst="rect">
            <a:avLst/>
          </a:prstGeom>
        </p:spPr>
        <p:txBody>
          <a:bodyPr anchor="t" rtlCol="false" tIns="0" lIns="0" bIns="0" rIns="0">
            <a:spAutoFit/>
          </a:bodyPr>
          <a:lstStyle/>
          <a:p>
            <a:pPr algn="ctr" rtl="true">
              <a:lnSpc>
                <a:spcPts val="4387"/>
              </a:lnSpc>
              <a:spcBef>
                <a:spcPct val="0"/>
              </a:spcBef>
            </a:pPr>
            <a:r>
              <a:rPr lang="ar-EG" b="true" sz="3656">
                <a:solidFill>
                  <a:srgbClr val="08784E"/>
                </a:solidFill>
                <a:latin typeface="IBM Plex Sans Arabic Bold"/>
                <a:ea typeface="IBM Plex Sans Arabic Bold"/>
                <a:cs typeface="IBM Plex Sans Arabic Bold"/>
                <a:sym typeface="IBM Plex Sans Arabic Bold"/>
                <a:rtl val="true"/>
              </a:rPr>
              <a:t>الرادارات الحالية:</a:t>
            </a:r>
          </a:p>
        </p:txBody>
      </p:sp>
      <p:sp>
        <p:nvSpPr>
          <p:cNvPr name="TextBox 14" id="14"/>
          <p:cNvSpPr txBox="true"/>
          <p:nvPr/>
        </p:nvSpPr>
        <p:spPr>
          <a:xfrm rot="0">
            <a:off x="-99539" y="2154844"/>
            <a:ext cx="7696394" cy="542925"/>
          </a:xfrm>
          <a:prstGeom prst="rect">
            <a:avLst/>
          </a:prstGeom>
        </p:spPr>
        <p:txBody>
          <a:bodyPr anchor="t" rtlCol="false" tIns="0" lIns="0" bIns="0" rIns="0">
            <a:spAutoFit/>
          </a:bodyPr>
          <a:lstStyle/>
          <a:p>
            <a:pPr algn="ctr" rtl="true">
              <a:lnSpc>
                <a:spcPts val="4387"/>
              </a:lnSpc>
              <a:spcBef>
                <a:spcPct val="0"/>
              </a:spcBef>
            </a:pPr>
            <a:r>
              <a:rPr lang="ar-EG" b="true" sz="3656">
                <a:solidFill>
                  <a:srgbClr val="08784E"/>
                </a:solidFill>
                <a:latin typeface="IBM Plex Sans Arabic Bold"/>
                <a:ea typeface="IBM Plex Sans Arabic Bold"/>
                <a:cs typeface="IBM Plex Sans Arabic Bold"/>
                <a:sym typeface="IBM Plex Sans Arabic Bold"/>
                <a:rtl val="true"/>
              </a:rPr>
              <a:t>الرادارات مع نموذج </a:t>
            </a:r>
            <a:r>
              <a:rPr lang="en-US" b="true" sz="3656">
                <a:solidFill>
                  <a:srgbClr val="08784E"/>
                </a:solidFill>
                <a:latin typeface="IBM Plex Sans Arabic Bold"/>
                <a:ea typeface="IBM Plex Sans Arabic Bold"/>
                <a:cs typeface="IBM Plex Sans Arabic Bold"/>
                <a:sym typeface="IBM Plex Sans Arabic Bold"/>
              </a:rPr>
              <a:t>A.A.T.D</a:t>
            </a:r>
            <a:r>
              <a:rPr lang="ar-EG" b="true" sz="3656">
                <a:solidFill>
                  <a:srgbClr val="08784E"/>
                </a:solidFill>
                <a:latin typeface="IBM Plex Sans Arabic Bold"/>
                <a:ea typeface="IBM Plex Sans Arabic Bold"/>
                <a:cs typeface="IBM Plex Sans Arabic Bold"/>
                <a:sym typeface="IBM Plex Sans Arabic Bold"/>
                <a:rtl val="true"/>
              </a:rPr>
              <a:t>:</a:t>
            </a:r>
          </a:p>
        </p:txBody>
      </p:sp>
      <p:grpSp>
        <p:nvGrpSpPr>
          <p:cNvPr name="Group 15" id="15"/>
          <p:cNvGrpSpPr/>
          <p:nvPr/>
        </p:nvGrpSpPr>
        <p:grpSpPr>
          <a:xfrm rot="0">
            <a:off x="2044551" y="2926369"/>
            <a:ext cx="5552303" cy="4436402"/>
            <a:chOff x="0" y="0"/>
            <a:chExt cx="7403071" cy="5915203"/>
          </a:xfrm>
        </p:grpSpPr>
        <p:sp>
          <p:nvSpPr>
            <p:cNvPr name="Freeform 16" id="16"/>
            <p:cNvSpPr/>
            <p:nvPr/>
          </p:nvSpPr>
          <p:spPr>
            <a:xfrm flipH="false" flipV="false" rot="0">
              <a:off x="0" y="0"/>
              <a:ext cx="7403084" cy="5915152"/>
            </a:xfrm>
            <a:custGeom>
              <a:avLst/>
              <a:gdLst/>
              <a:ahLst/>
              <a:cxnLst/>
              <a:rect r="r" b="b" t="t" l="l"/>
              <a:pathLst>
                <a:path h="5915152" w="7403084">
                  <a:moveTo>
                    <a:pt x="0" y="0"/>
                  </a:moveTo>
                  <a:lnTo>
                    <a:pt x="7403084" y="0"/>
                  </a:lnTo>
                  <a:lnTo>
                    <a:pt x="7403084" y="5915152"/>
                  </a:lnTo>
                  <a:lnTo>
                    <a:pt x="0" y="5915152"/>
                  </a:lnTo>
                  <a:lnTo>
                    <a:pt x="0" y="0"/>
                  </a:lnTo>
                  <a:close/>
                </a:path>
              </a:pathLst>
            </a:custGeom>
            <a:blipFill>
              <a:blip r:embed="rId5"/>
              <a:stretch>
                <a:fillRect l="-21023" t="0" r="-21023"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6EDEA"/>
        </a:solidFill>
      </p:bgPr>
    </p:bg>
    <p:spTree>
      <p:nvGrpSpPr>
        <p:cNvPr id="1" name=""/>
        <p:cNvGrpSpPr/>
        <p:nvPr/>
      </p:nvGrpSpPr>
      <p:grpSpPr>
        <a:xfrm>
          <a:off x="0" y="0"/>
          <a:ext cx="0" cy="0"/>
          <a:chOff x="0" y="0"/>
          <a:chExt cx="0" cy="0"/>
        </a:xfrm>
      </p:grpSpPr>
      <p:sp>
        <p:nvSpPr>
          <p:cNvPr name="AutoShape 2" id="2"/>
          <p:cNvSpPr/>
          <p:nvPr/>
        </p:nvSpPr>
        <p:spPr>
          <a:xfrm>
            <a:off x="5447737" y="2382178"/>
            <a:ext cx="9455" cy="9526"/>
          </a:xfrm>
          <a:prstGeom prst="line">
            <a:avLst/>
          </a:prstGeom>
          <a:ln cap="rnd" w="9525">
            <a:solidFill>
              <a:srgbClr val="2CAE7D"/>
            </a:solidFill>
            <a:prstDash val="solid"/>
            <a:headEnd type="none" len="sm" w="sm"/>
            <a:tailEnd type="none" len="sm" w="sm"/>
          </a:ln>
        </p:spPr>
      </p:sp>
      <p:grpSp>
        <p:nvGrpSpPr>
          <p:cNvPr name="Group 3" id="3"/>
          <p:cNvGrpSpPr/>
          <p:nvPr/>
        </p:nvGrpSpPr>
        <p:grpSpPr>
          <a:xfrm rot="0">
            <a:off x="14282042" y="1544098"/>
            <a:ext cx="560403" cy="560403"/>
            <a:chOff x="0" y="0"/>
            <a:chExt cx="747204" cy="747204"/>
          </a:xfrm>
        </p:grpSpPr>
        <p:sp>
          <p:nvSpPr>
            <p:cNvPr name="Freeform 4" id="4"/>
            <p:cNvSpPr/>
            <p:nvPr/>
          </p:nvSpPr>
          <p:spPr>
            <a:xfrm flipH="false" flipV="false" rot="0">
              <a:off x="0" y="0"/>
              <a:ext cx="747141" cy="747141"/>
            </a:xfrm>
            <a:custGeom>
              <a:avLst/>
              <a:gdLst/>
              <a:ahLst/>
              <a:cxnLst/>
              <a:rect r="r" b="b" t="t" l="l"/>
              <a:pathLst>
                <a:path h="747141" w="747141">
                  <a:moveTo>
                    <a:pt x="0" y="373634"/>
                  </a:moveTo>
                  <a:lnTo>
                    <a:pt x="373634" y="0"/>
                  </a:lnTo>
                  <a:lnTo>
                    <a:pt x="747141" y="373634"/>
                  </a:lnTo>
                  <a:lnTo>
                    <a:pt x="373634" y="747141"/>
                  </a:lnTo>
                  <a:close/>
                </a:path>
              </a:pathLst>
            </a:custGeom>
            <a:solidFill>
              <a:srgbClr val="08784E"/>
            </a:solidFill>
          </p:spPr>
        </p:sp>
      </p:grpSp>
      <p:grpSp>
        <p:nvGrpSpPr>
          <p:cNvPr name="Group 5" id="5"/>
          <p:cNvGrpSpPr/>
          <p:nvPr/>
        </p:nvGrpSpPr>
        <p:grpSpPr>
          <a:xfrm rot="0">
            <a:off x="8863798" y="1544098"/>
            <a:ext cx="560403" cy="560403"/>
            <a:chOff x="0" y="0"/>
            <a:chExt cx="747204" cy="747204"/>
          </a:xfrm>
        </p:grpSpPr>
        <p:sp>
          <p:nvSpPr>
            <p:cNvPr name="Freeform 6" id="6"/>
            <p:cNvSpPr/>
            <p:nvPr/>
          </p:nvSpPr>
          <p:spPr>
            <a:xfrm flipH="false" flipV="false" rot="0">
              <a:off x="0" y="0"/>
              <a:ext cx="747141" cy="747141"/>
            </a:xfrm>
            <a:custGeom>
              <a:avLst/>
              <a:gdLst/>
              <a:ahLst/>
              <a:cxnLst/>
              <a:rect r="r" b="b" t="t" l="l"/>
              <a:pathLst>
                <a:path h="747141" w="747141">
                  <a:moveTo>
                    <a:pt x="0" y="373634"/>
                  </a:moveTo>
                  <a:lnTo>
                    <a:pt x="373634" y="0"/>
                  </a:lnTo>
                  <a:lnTo>
                    <a:pt x="747141" y="373634"/>
                  </a:lnTo>
                  <a:lnTo>
                    <a:pt x="373634" y="747141"/>
                  </a:lnTo>
                  <a:close/>
                </a:path>
              </a:pathLst>
            </a:custGeom>
            <a:solidFill>
              <a:srgbClr val="08784E"/>
            </a:solidFill>
          </p:spPr>
        </p:sp>
      </p:grpSp>
      <p:grpSp>
        <p:nvGrpSpPr>
          <p:cNvPr name="Group 7" id="7"/>
          <p:cNvGrpSpPr/>
          <p:nvPr/>
        </p:nvGrpSpPr>
        <p:grpSpPr>
          <a:xfrm rot="0">
            <a:off x="3553949" y="1544098"/>
            <a:ext cx="560403" cy="560403"/>
            <a:chOff x="0" y="0"/>
            <a:chExt cx="747204" cy="747204"/>
          </a:xfrm>
        </p:grpSpPr>
        <p:sp>
          <p:nvSpPr>
            <p:cNvPr name="Freeform 8" id="8"/>
            <p:cNvSpPr/>
            <p:nvPr/>
          </p:nvSpPr>
          <p:spPr>
            <a:xfrm flipH="false" flipV="false" rot="0">
              <a:off x="0" y="0"/>
              <a:ext cx="747141" cy="747141"/>
            </a:xfrm>
            <a:custGeom>
              <a:avLst/>
              <a:gdLst/>
              <a:ahLst/>
              <a:cxnLst/>
              <a:rect r="r" b="b" t="t" l="l"/>
              <a:pathLst>
                <a:path h="747141" w="747141">
                  <a:moveTo>
                    <a:pt x="0" y="373634"/>
                  </a:moveTo>
                  <a:lnTo>
                    <a:pt x="373634" y="0"/>
                  </a:lnTo>
                  <a:lnTo>
                    <a:pt x="747141" y="373634"/>
                  </a:lnTo>
                  <a:lnTo>
                    <a:pt x="373634" y="747141"/>
                  </a:lnTo>
                  <a:close/>
                </a:path>
              </a:pathLst>
            </a:custGeom>
            <a:solidFill>
              <a:srgbClr val="08784E"/>
            </a:solidFill>
          </p:spPr>
        </p:sp>
      </p:grpSp>
      <p:sp>
        <p:nvSpPr>
          <p:cNvPr name="TextBox 9" id="9"/>
          <p:cNvSpPr txBox="true"/>
          <p:nvPr/>
        </p:nvSpPr>
        <p:spPr>
          <a:xfrm rot="0">
            <a:off x="2233574" y="2325028"/>
            <a:ext cx="3201152" cy="1921764"/>
          </a:xfrm>
          <a:prstGeom prst="rect">
            <a:avLst/>
          </a:prstGeom>
        </p:spPr>
        <p:txBody>
          <a:bodyPr anchor="t" rtlCol="false" tIns="0" lIns="0" bIns="0" rIns="0">
            <a:spAutoFit/>
          </a:bodyPr>
          <a:lstStyle/>
          <a:p>
            <a:pPr algn="ctr">
              <a:lnSpc>
                <a:spcPts val="4416"/>
              </a:lnSpc>
            </a:pPr>
            <a:r>
              <a:rPr lang="en-US" b="true" sz="3200">
                <a:solidFill>
                  <a:srgbClr val="44546A"/>
                </a:solidFill>
                <a:latin typeface="IBM Plex Sans Arabic Bold"/>
                <a:ea typeface="IBM Plex Sans Arabic Bold"/>
                <a:cs typeface="IBM Plex Sans Arabic Bold"/>
                <a:sym typeface="IBM Plex Sans Arabic Bold"/>
              </a:rPr>
              <a:t>settings.</a:t>
            </a:r>
          </a:p>
          <a:p>
            <a:pPr algn="ctr" rtl="true">
              <a:lnSpc>
                <a:spcPts val="2760"/>
              </a:lnSpc>
            </a:pPr>
            <a:r>
              <a:rPr lang="ar-EG" b="true" sz="2000">
                <a:solidFill>
                  <a:srgbClr val="44546A"/>
                </a:solidFill>
                <a:latin typeface="IBM Plex Sans Arabic Bold"/>
                <a:ea typeface="IBM Plex Sans Arabic Bold"/>
                <a:cs typeface="IBM Plex Sans Arabic Bold"/>
                <a:sym typeface="IBM Plex Sans Arabic Bold"/>
                <a:rtl val="true"/>
              </a:rPr>
              <a:t>لتغير حساسية الذكاء الاصطناعي و اضافة اجسام يتعقبها الذكاء الاصطناعي بالاضافة الى المجسمات التي يتجاهلها </a:t>
            </a:r>
          </a:p>
        </p:txBody>
      </p:sp>
      <p:grpSp>
        <p:nvGrpSpPr>
          <p:cNvPr name="Group 10" id="10"/>
          <p:cNvGrpSpPr/>
          <p:nvPr/>
        </p:nvGrpSpPr>
        <p:grpSpPr>
          <a:xfrm rot="0">
            <a:off x="7836217" y="-257982"/>
            <a:ext cx="6871002" cy="10287000"/>
            <a:chOff x="0" y="0"/>
            <a:chExt cx="9161336" cy="13716000"/>
          </a:xfrm>
        </p:grpSpPr>
        <p:sp>
          <p:nvSpPr>
            <p:cNvPr name="Freeform 11" id="11"/>
            <p:cNvSpPr/>
            <p:nvPr/>
          </p:nvSpPr>
          <p:spPr>
            <a:xfrm flipH="false" flipV="false" rot="0">
              <a:off x="0" y="0"/>
              <a:ext cx="9161272" cy="13716000"/>
            </a:xfrm>
            <a:custGeom>
              <a:avLst/>
              <a:gdLst/>
              <a:ahLst/>
              <a:cxnLst/>
              <a:rect r="r" b="b" t="t" l="l"/>
              <a:pathLst>
                <a:path h="13716000" w="9161272">
                  <a:moveTo>
                    <a:pt x="0" y="0"/>
                  </a:moveTo>
                  <a:lnTo>
                    <a:pt x="9161272" y="0"/>
                  </a:lnTo>
                  <a:lnTo>
                    <a:pt x="9161272" y="13716000"/>
                  </a:lnTo>
                  <a:lnTo>
                    <a:pt x="0" y="13716000"/>
                  </a:lnTo>
                  <a:lnTo>
                    <a:pt x="0" y="0"/>
                  </a:lnTo>
                  <a:close/>
                </a:path>
              </a:pathLst>
            </a:custGeom>
            <a:blipFill>
              <a:blip r:embed="rId3"/>
              <a:stretch>
                <a:fillRect l="-86765" t="-7499" r="6252" b="-13069"/>
              </a:stretch>
            </a:blipFill>
          </p:spPr>
        </p:sp>
      </p:grpSp>
      <p:sp>
        <p:nvSpPr>
          <p:cNvPr name="Freeform 12" id="12"/>
          <p:cNvSpPr/>
          <p:nvPr/>
        </p:nvSpPr>
        <p:spPr>
          <a:xfrm flipH="false" flipV="false" rot="0">
            <a:off x="12037173" y="4365230"/>
            <a:ext cx="6761360" cy="5921770"/>
          </a:xfrm>
          <a:custGeom>
            <a:avLst/>
            <a:gdLst/>
            <a:ahLst/>
            <a:cxnLst/>
            <a:rect r="r" b="b" t="t" l="l"/>
            <a:pathLst>
              <a:path h="5921770" w="6761360">
                <a:moveTo>
                  <a:pt x="0" y="0"/>
                </a:moveTo>
                <a:lnTo>
                  <a:pt x="6761360" y="0"/>
                </a:lnTo>
                <a:lnTo>
                  <a:pt x="6761360" y="5921770"/>
                </a:lnTo>
                <a:lnTo>
                  <a:pt x="0" y="5921770"/>
                </a:lnTo>
                <a:lnTo>
                  <a:pt x="0" y="0"/>
                </a:lnTo>
                <a:close/>
              </a:path>
            </a:pathLst>
          </a:custGeom>
          <a:blipFill>
            <a:blip r:embed="rId4"/>
            <a:stretch>
              <a:fillRect l="-15819" t="0" r="-5612" b="0"/>
            </a:stretch>
          </a:blipFill>
        </p:spPr>
      </p:sp>
      <p:sp>
        <p:nvSpPr>
          <p:cNvPr name="Freeform 13" id="13"/>
          <p:cNvSpPr/>
          <p:nvPr/>
        </p:nvSpPr>
        <p:spPr>
          <a:xfrm flipH="false" flipV="false" rot="0">
            <a:off x="-1461185" y="4365230"/>
            <a:ext cx="6928031" cy="5921770"/>
          </a:xfrm>
          <a:custGeom>
            <a:avLst/>
            <a:gdLst/>
            <a:ahLst/>
            <a:cxnLst/>
            <a:rect r="r" b="b" t="t" l="l"/>
            <a:pathLst>
              <a:path h="5921770" w="6928031">
                <a:moveTo>
                  <a:pt x="0" y="0"/>
                </a:moveTo>
                <a:lnTo>
                  <a:pt x="6928031" y="0"/>
                </a:lnTo>
                <a:lnTo>
                  <a:pt x="6928031" y="5921770"/>
                </a:lnTo>
                <a:lnTo>
                  <a:pt x="0" y="5921770"/>
                </a:lnTo>
                <a:lnTo>
                  <a:pt x="0" y="0"/>
                </a:lnTo>
                <a:close/>
              </a:path>
            </a:pathLst>
          </a:custGeom>
          <a:blipFill>
            <a:blip r:embed="rId5"/>
            <a:stretch>
              <a:fillRect l="-9811" t="0" r="-9811" b="0"/>
            </a:stretch>
          </a:blipFill>
        </p:spPr>
      </p:sp>
      <p:sp>
        <p:nvSpPr>
          <p:cNvPr name="Freeform 14" id="14"/>
          <p:cNvSpPr/>
          <p:nvPr/>
        </p:nvSpPr>
        <p:spPr>
          <a:xfrm flipH="false" flipV="false" rot="0">
            <a:off x="5724828" y="4365230"/>
            <a:ext cx="6105720" cy="5954025"/>
          </a:xfrm>
          <a:custGeom>
            <a:avLst/>
            <a:gdLst/>
            <a:ahLst/>
            <a:cxnLst/>
            <a:rect r="r" b="b" t="t" l="l"/>
            <a:pathLst>
              <a:path h="5954025" w="6105720">
                <a:moveTo>
                  <a:pt x="0" y="0"/>
                </a:moveTo>
                <a:lnTo>
                  <a:pt x="6105720" y="0"/>
                </a:lnTo>
                <a:lnTo>
                  <a:pt x="6105720" y="5954025"/>
                </a:lnTo>
                <a:lnTo>
                  <a:pt x="0" y="5954025"/>
                </a:lnTo>
                <a:lnTo>
                  <a:pt x="0" y="0"/>
                </a:lnTo>
                <a:close/>
              </a:path>
            </a:pathLst>
          </a:custGeom>
          <a:blipFill>
            <a:blip r:embed="rId6"/>
            <a:stretch>
              <a:fillRect l="-34405" t="0" r="-3697" b="0"/>
            </a:stretch>
          </a:blipFill>
        </p:spPr>
      </p:sp>
      <p:sp>
        <p:nvSpPr>
          <p:cNvPr name="TextBox 15" id="15"/>
          <p:cNvSpPr txBox="true"/>
          <p:nvPr/>
        </p:nvSpPr>
        <p:spPr>
          <a:xfrm rot="0">
            <a:off x="12961668" y="2334554"/>
            <a:ext cx="3201152" cy="1235964"/>
          </a:xfrm>
          <a:prstGeom prst="rect">
            <a:avLst/>
          </a:prstGeom>
        </p:spPr>
        <p:txBody>
          <a:bodyPr anchor="t" rtlCol="false" tIns="0" lIns="0" bIns="0" rIns="0">
            <a:spAutoFit/>
          </a:bodyPr>
          <a:lstStyle/>
          <a:p>
            <a:pPr algn="ctr">
              <a:lnSpc>
                <a:spcPts val="4416"/>
              </a:lnSpc>
            </a:pPr>
            <a:r>
              <a:rPr lang="en-US" b="true" sz="3200">
                <a:solidFill>
                  <a:srgbClr val="44546A"/>
                </a:solidFill>
                <a:latin typeface="IBM Plex Sans Arabic Bold"/>
                <a:ea typeface="IBM Plex Sans Arabic Bold"/>
                <a:cs typeface="IBM Plex Sans Arabic Bold"/>
                <a:sym typeface="IBM Plex Sans Arabic Bold"/>
              </a:rPr>
              <a:t>home.</a:t>
            </a:r>
          </a:p>
          <a:p>
            <a:pPr algn="ctr" rtl="true">
              <a:lnSpc>
                <a:spcPts val="2760"/>
              </a:lnSpc>
            </a:pPr>
            <a:r>
              <a:rPr lang="ar-EG" b="true" sz="2000">
                <a:solidFill>
                  <a:srgbClr val="44546A"/>
                </a:solidFill>
                <a:latin typeface="IBM Plex Sans Arabic Bold"/>
                <a:ea typeface="IBM Plex Sans Arabic Bold"/>
                <a:cs typeface="IBM Plex Sans Arabic Bold"/>
                <a:sym typeface="IBM Plex Sans Arabic Bold"/>
                <a:rtl val="true"/>
              </a:rPr>
              <a:t>تصوير لحظي لكل منطقة مركبه بكاميرات النظام.</a:t>
            </a:r>
          </a:p>
        </p:txBody>
      </p:sp>
      <p:sp>
        <p:nvSpPr>
          <p:cNvPr name="TextBox 16" id="16"/>
          <p:cNvSpPr txBox="true"/>
          <p:nvPr/>
        </p:nvSpPr>
        <p:spPr>
          <a:xfrm rot="0">
            <a:off x="7543424" y="2334554"/>
            <a:ext cx="3201152" cy="893064"/>
          </a:xfrm>
          <a:prstGeom prst="rect">
            <a:avLst/>
          </a:prstGeom>
        </p:spPr>
        <p:txBody>
          <a:bodyPr anchor="t" rtlCol="false" tIns="0" lIns="0" bIns="0" rIns="0">
            <a:spAutoFit/>
          </a:bodyPr>
          <a:lstStyle/>
          <a:p>
            <a:pPr algn="ctr">
              <a:lnSpc>
                <a:spcPts val="4416"/>
              </a:lnSpc>
            </a:pPr>
            <a:r>
              <a:rPr lang="en-US" b="true" sz="3200">
                <a:solidFill>
                  <a:srgbClr val="44546A"/>
                </a:solidFill>
                <a:latin typeface="IBM Plex Sans Arabic Bold"/>
                <a:ea typeface="IBM Plex Sans Arabic Bold"/>
                <a:cs typeface="IBM Plex Sans Arabic Bold"/>
                <a:sym typeface="IBM Plex Sans Arabic Bold"/>
              </a:rPr>
              <a:t>Alerts.</a:t>
            </a:r>
          </a:p>
          <a:p>
            <a:pPr algn="ctr" rtl="true">
              <a:lnSpc>
                <a:spcPts val="2760"/>
              </a:lnSpc>
            </a:pPr>
            <a:r>
              <a:rPr lang="ar-EG" b="true" sz="2000">
                <a:solidFill>
                  <a:srgbClr val="44546A"/>
                </a:solidFill>
                <a:latin typeface="IBM Plex Sans Arabic Bold"/>
                <a:ea typeface="IBM Plex Sans Arabic Bold"/>
                <a:cs typeface="IBM Plex Sans Arabic Bold"/>
                <a:sym typeface="IBM Plex Sans Arabic Bold"/>
                <a:rtl val="true"/>
              </a:rPr>
              <a:t>للاطلاع  على التنبيهات السابقة.</a:t>
            </a:r>
          </a:p>
        </p:txBody>
      </p:sp>
      <p:sp>
        <p:nvSpPr>
          <p:cNvPr name="TextBox 17" id="17"/>
          <p:cNvSpPr txBox="true"/>
          <p:nvPr/>
        </p:nvSpPr>
        <p:spPr>
          <a:xfrm rot="0">
            <a:off x="10576521" y="419737"/>
            <a:ext cx="6682779" cy="910139"/>
          </a:xfrm>
          <a:prstGeom prst="rect">
            <a:avLst/>
          </a:prstGeom>
        </p:spPr>
        <p:txBody>
          <a:bodyPr anchor="t" rtlCol="false" tIns="0" lIns="0" bIns="0" rIns="0">
            <a:spAutoFit/>
          </a:bodyPr>
          <a:lstStyle/>
          <a:p>
            <a:pPr algn="r" rtl="true">
              <a:lnSpc>
                <a:spcPts val="7679"/>
              </a:lnSpc>
            </a:pPr>
            <a:r>
              <a:rPr lang="ar-EG" b="true" sz="4872">
                <a:solidFill>
                  <a:srgbClr val="08784E"/>
                </a:solidFill>
                <a:latin typeface="IBM Plex Sans Arabic Bold"/>
                <a:ea typeface="IBM Plex Sans Arabic Bold"/>
                <a:cs typeface="IBM Plex Sans Arabic Bold"/>
                <a:sym typeface="IBM Plex Sans Arabic Bold"/>
                <a:rtl val="true"/>
              </a:rPr>
              <a:t>واجهة النظام (نموذج اولي):</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02E29"/>
        </a:solidFill>
      </p:bgPr>
    </p:bg>
    <p:spTree>
      <p:nvGrpSpPr>
        <p:cNvPr id="1" name=""/>
        <p:cNvGrpSpPr/>
        <p:nvPr/>
      </p:nvGrpSpPr>
      <p:grpSpPr>
        <a:xfrm>
          <a:off x="0" y="0"/>
          <a:ext cx="0" cy="0"/>
          <a:chOff x="0" y="0"/>
          <a:chExt cx="0" cy="0"/>
        </a:xfrm>
      </p:grpSpPr>
      <p:grpSp>
        <p:nvGrpSpPr>
          <p:cNvPr name="Group 2" id="2"/>
          <p:cNvGrpSpPr/>
          <p:nvPr/>
        </p:nvGrpSpPr>
        <p:grpSpPr>
          <a:xfrm rot="0">
            <a:off x="0" y="0"/>
            <a:ext cx="6871002" cy="10287000"/>
            <a:chOff x="0" y="0"/>
            <a:chExt cx="9161336" cy="13716000"/>
          </a:xfrm>
        </p:grpSpPr>
        <p:sp>
          <p:nvSpPr>
            <p:cNvPr name="Freeform 3" id="3"/>
            <p:cNvSpPr/>
            <p:nvPr/>
          </p:nvSpPr>
          <p:spPr>
            <a:xfrm flipH="false" flipV="false" rot="0">
              <a:off x="0" y="0"/>
              <a:ext cx="9161272" cy="13716000"/>
            </a:xfrm>
            <a:custGeom>
              <a:avLst/>
              <a:gdLst/>
              <a:ahLst/>
              <a:cxnLst/>
              <a:rect r="r" b="b" t="t" l="l"/>
              <a:pathLst>
                <a:path h="13716000" w="9161272">
                  <a:moveTo>
                    <a:pt x="0" y="0"/>
                  </a:moveTo>
                  <a:lnTo>
                    <a:pt x="9161272" y="0"/>
                  </a:lnTo>
                  <a:lnTo>
                    <a:pt x="9161272" y="13716000"/>
                  </a:lnTo>
                  <a:lnTo>
                    <a:pt x="0" y="13716000"/>
                  </a:lnTo>
                  <a:lnTo>
                    <a:pt x="0" y="0"/>
                  </a:lnTo>
                  <a:close/>
                </a:path>
              </a:pathLst>
            </a:custGeom>
            <a:blipFill>
              <a:blip r:embed="rId3"/>
              <a:stretch>
                <a:fillRect l="-86765" t="-7499" r="6252" b="-13069"/>
              </a:stretch>
            </a:blipFill>
          </p:spPr>
        </p:sp>
      </p:grpSp>
      <p:grpSp>
        <p:nvGrpSpPr>
          <p:cNvPr name="Group 4" id="4"/>
          <p:cNvGrpSpPr/>
          <p:nvPr/>
        </p:nvGrpSpPr>
        <p:grpSpPr>
          <a:xfrm rot="0">
            <a:off x="6" y="863251"/>
            <a:ext cx="4008196" cy="7877499"/>
            <a:chOff x="0" y="0"/>
            <a:chExt cx="5344262" cy="10503332"/>
          </a:xfrm>
        </p:grpSpPr>
        <p:sp>
          <p:nvSpPr>
            <p:cNvPr name="Freeform 5" id="5"/>
            <p:cNvSpPr/>
            <p:nvPr/>
          </p:nvSpPr>
          <p:spPr>
            <a:xfrm flipH="false" flipV="false" rot="0">
              <a:off x="0" y="0"/>
              <a:ext cx="5344287" cy="10503281"/>
            </a:xfrm>
            <a:custGeom>
              <a:avLst/>
              <a:gdLst/>
              <a:ahLst/>
              <a:cxnLst/>
              <a:rect r="r" b="b" t="t" l="l"/>
              <a:pathLst>
                <a:path h="10503281" w="5344287">
                  <a:moveTo>
                    <a:pt x="0" y="0"/>
                  </a:moveTo>
                  <a:lnTo>
                    <a:pt x="5344287" y="0"/>
                  </a:lnTo>
                  <a:lnTo>
                    <a:pt x="5344287" y="10503281"/>
                  </a:lnTo>
                  <a:lnTo>
                    <a:pt x="0" y="10503281"/>
                  </a:lnTo>
                  <a:lnTo>
                    <a:pt x="0" y="0"/>
                  </a:lnTo>
                  <a:close/>
                </a:path>
              </a:pathLst>
            </a:custGeom>
            <a:blipFill>
              <a:blip r:embed="rId4"/>
              <a:stretch>
                <a:fillRect l="-57200" t="0" r="0" b="-2"/>
              </a:stretch>
            </a:blipFill>
          </p:spPr>
        </p:sp>
      </p:grpSp>
      <p:sp>
        <p:nvSpPr>
          <p:cNvPr name="TextBox 6" id="6"/>
          <p:cNvSpPr txBox="true"/>
          <p:nvPr/>
        </p:nvSpPr>
        <p:spPr>
          <a:xfrm rot="0">
            <a:off x="10942568" y="4068223"/>
            <a:ext cx="1485148" cy="603399"/>
          </a:xfrm>
          <a:prstGeom prst="rect">
            <a:avLst/>
          </a:prstGeom>
        </p:spPr>
        <p:txBody>
          <a:bodyPr anchor="t" rtlCol="false" tIns="0" lIns="0" bIns="0" rIns="0">
            <a:spAutoFit/>
          </a:bodyPr>
          <a:lstStyle/>
          <a:p>
            <a:pPr algn="ctr" rtl="true">
              <a:lnSpc>
                <a:spcPts val="3456"/>
              </a:lnSpc>
            </a:pPr>
            <a:r>
              <a:rPr lang="ar-EG" b="true" sz="1920">
                <a:solidFill>
                  <a:srgbClr val="102E29"/>
                </a:solidFill>
                <a:latin typeface="IBM Plex Sans Arabic Bold"/>
                <a:ea typeface="IBM Plex Sans Arabic Bold"/>
                <a:cs typeface="IBM Plex Sans Arabic Bold"/>
                <a:sym typeface="IBM Plex Sans Arabic Bold"/>
                <a:rtl val="true"/>
              </a:rPr>
              <a:t>عنوان</a:t>
            </a:r>
          </a:p>
        </p:txBody>
      </p:sp>
      <p:sp>
        <p:nvSpPr>
          <p:cNvPr name="Freeform 7" id="7"/>
          <p:cNvSpPr/>
          <p:nvPr/>
        </p:nvSpPr>
        <p:spPr>
          <a:xfrm flipH="false" flipV="false" rot="0">
            <a:off x="12207830" y="2756699"/>
            <a:ext cx="5859752" cy="3716924"/>
          </a:xfrm>
          <a:custGeom>
            <a:avLst/>
            <a:gdLst/>
            <a:ahLst/>
            <a:cxnLst/>
            <a:rect r="r" b="b" t="t" l="l"/>
            <a:pathLst>
              <a:path h="3716924" w="5859752">
                <a:moveTo>
                  <a:pt x="0" y="0"/>
                </a:moveTo>
                <a:lnTo>
                  <a:pt x="5859752" y="0"/>
                </a:lnTo>
                <a:lnTo>
                  <a:pt x="5859752" y="3716923"/>
                </a:lnTo>
                <a:lnTo>
                  <a:pt x="0" y="37169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2207297" y="3754881"/>
            <a:ext cx="5860285" cy="2569612"/>
            <a:chOff x="0" y="0"/>
            <a:chExt cx="4187203" cy="1836001"/>
          </a:xfrm>
        </p:grpSpPr>
        <p:sp>
          <p:nvSpPr>
            <p:cNvPr name="Freeform 9" id="9"/>
            <p:cNvSpPr/>
            <p:nvPr/>
          </p:nvSpPr>
          <p:spPr>
            <a:xfrm flipH="false" flipV="false" rot="0">
              <a:off x="0" y="0"/>
              <a:ext cx="4187200" cy="1836000"/>
            </a:xfrm>
            <a:custGeom>
              <a:avLst/>
              <a:gdLst/>
              <a:ahLst/>
              <a:cxnLst/>
              <a:rect r="r" b="b" t="t" l="l"/>
              <a:pathLst>
                <a:path h="1836000" w="4187200">
                  <a:moveTo>
                    <a:pt x="231392" y="0"/>
                  </a:moveTo>
                  <a:lnTo>
                    <a:pt x="3955807" y="0"/>
                  </a:lnTo>
                  <a:cubicBezTo>
                    <a:pt x="4083602" y="0"/>
                    <a:pt x="4187200" y="103598"/>
                    <a:pt x="4187200" y="231392"/>
                  </a:cubicBezTo>
                  <a:lnTo>
                    <a:pt x="4187200" y="1604607"/>
                  </a:lnTo>
                  <a:cubicBezTo>
                    <a:pt x="4187200" y="1732402"/>
                    <a:pt x="4083602" y="1836000"/>
                    <a:pt x="3955807" y="1836000"/>
                  </a:cubicBezTo>
                  <a:lnTo>
                    <a:pt x="231392" y="1836000"/>
                  </a:lnTo>
                  <a:cubicBezTo>
                    <a:pt x="103598" y="1836000"/>
                    <a:pt x="0" y="1732402"/>
                    <a:pt x="0" y="1604607"/>
                  </a:cubicBezTo>
                  <a:lnTo>
                    <a:pt x="0" y="231392"/>
                  </a:lnTo>
                  <a:cubicBezTo>
                    <a:pt x="0" y="103598"/>
                    <a:pt x="103598" y="0"/>
                    <a:pt x="231392" y="0"/>
                  </a:cubicBezTo>
                  <a:close/>
                </a:path>
              </a:pathLst>
            </a:custGeom>
            <a:blipFill>
              <a:blip r:embed="rId7">
                <a:alphaModFix amt="0"/>
              </a:blip>
              <a:stretch>
                <a:fillRect l="-6258" t="0" r="-6258" b="0"/>
              </a:stretch>
            </a:blipFill>
          </p:spPr>
        </p:sp>
        <p:sp>
          <p:nvSpPr>
            <p:cNvPr name="TextBox 10" id="10"/>
            <p:cNvSpPr txBox="true"/>
            <p:nvPr/>
          </p:nvSpPr>
          <p:spPr>
            <a:xfrm>
              <a:off x="0" y="-142875"/>
              <a:ext cx="4187203" cy="1978876"/>
            </a:xfrm>
            <a:prstGeom prst="rect">
              <a:avLst/>
            </a:prstGeom>
          </p:spPr>
          <p:txBody>
            <a:bodyPr anchor="ctr" rtlCol="false" tIns="0" lIns="0" bIns="0" rIns="0"/>
            <a:lstStyle/>
            <a:p>
              <a:pPr algn="ctr" rtl="true">
                <a:lnSpc>
                  <a:spcPts val="4679"/>
                </a:lnSpc>
              </a:pPr>
              <a:r>
                <a:rPr lang="ar-EG" b="true" sz="2599">
                  <a:solidFill>
                    <a:srgbClr val="FFFFFF"/>
                  </a:solidFill>
                  <a:latin typeface="IBM Plex Sans Arabic Bold"/>
                  <a:ea typeface="IBM Plex Sans Arabic Bold"/>
                  <a:cs typeface="IBM Plex Sans Arabic Bold"/>
                  <a:sym typeface="IBM Plex Sans Arabic Bold"/>
                  <a:rtl val="true"/>
                </a:rPr>
                <a:t>بسبب انحناء الأرض، لا يكشف الرادار الأهداف المنخفضة خارج خط الرؤية المباشر.</a:t>
              </a:r>
            </a:p>
          </p:txBody>
        </p:sp>
      </p:grpSp>
      <p:sp>
        <p:nvSpPr>
          <p:cNvPr name="TextBox 11" id="11"/>
          <p:cNvSpPr txBox="true"/>
          <p:nvPr/>
        </p:nvSpPr>
        <p:spPr>
          <a:xfrm rot="0">
            <a:off x="12683761" y="2884456"/>
            <a:ext cx="3522719" cy="754162"/>
          </a:xfrm>
          <a:prstGeom prst="rect">
            <a:avLst/>
          </a:prstGeom>
        </p:spPr>
        <p:txBody>
          <a:bodyPr anchor="t" rtlCol="false" tIns="0" lIns="0" bIns="0" rIns="0">
            <a:spAutoFit/>
          </a:bodyPr>
          <a:lstStyle/>
          <a:p>
            <a:pPr algn="ctr" rtl="true">
              <a:lnSpc>
                <a:spcPts val="6449"/>
              </a:lnSpc>
            </a:pPr>
            <a:r>
              <a:rPr lang="ar-EG" b="true" sz="3582">
                <a:solidFill>
                  <a:srgbClr val="102E29"/>
                </a:solidFill>
                <a:latin typeface="IBM Plex Sans Arabic Bold"/>
                <a:ea typeface="IBM Plex Sans Arabic Bold"/>
                <a:cs typeface="IBM Plex Sans Arabic Bold"/>
                <a:sym typeface="IBM Plex Sans Arabic Bold"/>
                <a:rtl val="true"/>
              </a:rPr>
              <a:t>الأفق الراداري:</a:t>
            </a:r>
          </a:p>
        </p:txBody>
      </p:sp>
      <p:grpSp>
        <p:nvGrpSpPr>
          <p:cNvPr name="Group 12" id="12"/>
          <p:cNvGrpSpPr/>
          <p:nvPr/>
        </p:nvGrpSpPr>
        <p:grpSpPr>
          <a:xfrm rot="0">
            <a:off x="6214195" y="2756699"/>
            <a:ext cx="5859752" cy="3716924"/>
            <a:chOff x="0" y="0"/>
            <a:chExt cx="7813002" cy="4955898"/>
          </a:xfrm>
        </p:grpSpPr>
        <p:sp>
          <p:nvSpPr>
            <p:cNvPr name="Freeform 13" id="13"/>
            <p:cNvSpPr/>
            <p:nvPr/>
          </p:nvSpPr>
          <p:spPr>
            <a:xfrm flipH="false" flipV="false" rot="0">
              <a:off x="0" y="0"/>
              <a:ext cx="7813002" cy="4955898"/>
            </a:xfrm>
            <a:custGeom>
              <a:avLst/>
              <a:gdLst/>
              <a:ahLst/>
              <a:cxnLst/>
              <a:rect r="r" b="b" t="t" l="l"/>
              <a:pathLst>
                <a:path h="4955898" w="7813002">
                  <a:moveTo>
                    <a:pt x="0" y="0"/>
                  </a:moveTo>
                  <a:lnTo>
                    <a:pt x="7813002" y="0"/>
                  </a:lnTo>
                  <a:lnTo>
                    <a:pt x="7813002" y="4955898"/>
                  </a:lnTo>
                  <a:lnTo>
                    <a:pt x="0" y="495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398091" y="287818"/>
              <a:ext cx="4933443" cy="745321"/>
            </a:xfrm>
            <a:prstGeom prst="rect">
              <a:avLst/>
            </a:prstGeom>
          </p:spPr>
          <p:txBody>
            <a:bodyPr anchor="t" rtlCol="false" tIns="0" lIns="0" bIns="0" rIns="0">
              <a:spAutoFit/>
            </a:bodyPr>
            <a:lstStyle/>
            <a:p>
              <a:pPr algn="ctr" rtl="true">
                <a:lnSpc>
                  <a:spcPts val="5189"/>
                </a:lnSpc>
              </a:pPr>
              <a:r>
                <a:rPr lang="ar-EG" b="true" sz="2882">
                  <a:solidFill>
                    <a:srgbClr val="102E29"/>
                  </a:solidFill>
                  <a:latin typeface="IBM Plex Sans Arabic Bold"/>
                  <a:ea typeface="IBM Plex Sans Arabic Bold"/>
                  <a:cs typeface="IBM Plex Sans Arabic Bold"/>
                  <a:sym typeface="IBM Plex Sans Arabic Bold"/>
                  <a:rtl val="true"/>
                </a:rPr>
                <a:t>قابلية التشويش الإلكتروني </a:t>
              </a:r>
            </a:p>
          </p:txBody>
        </p:sp>
      </p:grpSp>
      <p:grpSp>
        <p:nvGrpSpPr>
          <p:cNvPr name="Group 15" id="15"/>
          <p:cNvGrpSpPr/>
          <p:nvPr/>
        </p:nvGrpSpPr>
        <p:grpSpPr>
          <a:xfrm rot="0">
            <a:off x="6213858" y="3754881"/>
            <a:ext cx="5860285" cy="2569612"/>
            <a:chOff x="0" y="0"/>
            <a:chExt cx="4187203" cy="1836001"/>
          </a:xfrm>
        </p:grpSpPr>
        <p:sp>
          <p:nvSpPr>
            <p:cNvPr name="Freeform 16" id="16"/>
            <p:cNvSpPr/>
            <p:nvPr/>
          </p:nvSpPr>
          <p:spPr>
            <a:xfrm flipH="false" flipV="false" rot="0">
              <a:off x="0" y="0"/>
              <a:ext cx="4187200" cy="1836000"/>
            </a:xfrm>
            <a:custGeom>
              <a:avLst/>
              <a:gdLst/>
              <a:ahLst/>
              <a:cxnLst/>
              <a:rect r="r" b="b" t="t" l="l"/>
              <a:pathLst>
                <a:path h="1836000" w="4187200">
                  <a:moveTo>
                    <a:pt x="231392" y="0"/>
                  </a:moveTo>
                  <a:lnTo>
                    <a:pt x="3955807" y="0"/>
                  </a:lnTo>
                  <a:cubicBezTo>
                    <a:pt x="4083602" y="0"/>
                    <a:pt x="4187200" y="103598"/>
                    <a:pt x="4187200" y="231392"/>
                  </a:cubicBezTo>
                  <a:lnTo>
                    <a:pt x="4187200" y="1604607"/>
                  </a:lnTo>
                  <a:cubicBezTo>
                    <a:pt x="4187200" y="1732402"/>
                    <a:pt x="4083602" y="1836000"/>
                    <a:pt x="3955807" y="1836000"/>
                  </a:cubicBezTo>
                  <a:lnTo>
                    <a:pt x="231392" y="1836000"/>
                  </a:lnTo>
                  <a:cubicBezTo>
                    <a:pt x="103598" y="1836000"/>
                    <a:pt x="0" y="1732402"/>
                    <a:pt x="0" y="1604607"/>
                  </a:cubicBezTo>
                  <a:lnTo>
                    <a:pt x="0" y="231392"/>
                  </a:lnTo>
                  <a:cubicBezTo>
                    <a:pt x="0" y="103598"/>
                    <a:pt x="103598" y="0"/>
                    <a:pt x="231392" y="0"/>
                  </a:cubicBezTo>
                  <a:close/>
                </a:path>
              </a:pathLst>
            </a:custGeom>
            <a:blipFill>
              <a:blip r:embed="rId7">
                <a:alphaModFix amt="0"/>
              </a:blip>
              <a:stretch>
                <a:fillRect l="-6258" t="0" r="-6258" b="0"/>
              </a:stretch>
            </a:blipFill>
          </p:spPr>
        </p:sp>
        <p:sp>
          <p:nvSpPr>
            <p:cNvPr name="TextBox 17" id="17"/>
            <p:cNvSpPr txBox="true"/>
            <p:nvPr/>
          </p:nvSpPr>
          <p:spPr>
            <a:xfrm>
              <a:off x="0" y="-142875"/>
              <a:ext cx="4187203" cy="1978876"/>
            </a:xfrm>
            <a:prstGeom prst="rect">
              <a:avLst/>
            </a:prstGeom>
          </p:spPr>
          <p:txBody>
            <a:bodyPr anchor="ctr" rtlCol="false" tIns="0" lIns="0" bIns="0" rIns="0"/>
            <a:lstStyle/>
            <a:p>
              <a:pPr algn="ctr" rtl="true">
                <a:lnSpc>
                  <a:spcPts val="4679"/>
                </a:lnSpc>
              </a:pPr>
              <a:r>
                <a:rPr lang="ar-EG" b="true" sz="2599">
                  <a:solidFill>
                    <a:srgbClr val="FFFFFF"/>
                  </a:solidFill>
                  <a:latin typeface="IBM Plex Sans Arabic Bold"/>
                  <a:ea typeface="IBM Plex Sans Arabic Bold"/>
                  <a:cs typeface="IBM Plex Sans Arabic Bold"/>
                  <a:sym typeface="IBM Plex Sans Arabic Bold"/>
                  <a:rtl val="true"/>
                </a:rPr>
                <a:t>الرادارات التقليدية عرضة للتشويش المركّز وإطلاق الـ </a:t>
              </a:r>
              <a:r>
                <a:rPr lang="en-US" b="true" sz="2599">
                  <a:solidFill>
                    <a:srgbClr val="FFFFFF"/>
                  </a:solidFill>
                  <a:latin typeface="IBM Plex Sans Arabic Bold"/>
                  <a:ea typeface="IBM Plex Sans Arabic Bold"/>
                  <a:cs typeface="IBM Plex Sans Arabic Bold"/>
                  <a:sym typeface="IBM Plex Sans Arabic Bold"/>
                </a:rPr>
                <a:t>Chaff</a:t>
              </a:r>
              <a:r>
                <a:rPr lang="ar-EG" b="true" sz="2599">
                  <a:solidFill>
                    <a:srgbClr val="FFFFFF"/>
                  </a:solidFill>
                  <a:latin typeface="IBM Plex Sans Arabic Bold"/>
                  <a:ea typeface="IBM Plex Sans Arabic Bold"/>
                  <a:cs typeface="IBM Plex Sans Arabic Bold"/>
                  <a:sym typeface="IBM Plex Sans Arabic Bold"/>
                  <a:rtl val="true"/>
                </a:rPr>
                <a:t>(شرائط تشويش رادارية ).</a:t>
              </a:r>
            </a:p>
          </p:txBody>
        </p:sp>
      </p:grpSp>
      <p:grpSp>
        <p:nvGrpSpPr>
          <p:cNvPr name="Group 18" id="18"/>
          <p:cNvGrpSpPr/>
          <p:nvPr/>
        </p:nvGrpSpPr>
        <p:grpSpPr>
          <a:xfrm rot="0">
            <a:off x="216444" y="2756699"/>
            <a:ext cx="5859752" cy="3716924"/>
            <a:chOff x="0" y="0"/>
            <a:chExt cx="7813002" cy="4955898"/>
          </a:xfrm>
        </p:grpSpPr>
        <p:sp>
          <p:nvSpPr>
            <p:cNvPr name="Freeform 19" id="19"/>
            <p:cNvSpPr/>
            <p:nvPr/>
          </p:nvSpPr>
          <p:spPr>
            <a:xfrm flipH="false" flipV="false" rot="0">
              <a:off x="0" y="0"/>
              <a:ext cx="7813002" cy="4955898"/>
            </a:xfrm>
            <a:custGeom>
              <a:avLst/>
              <a:gdLst/>
              <a:ahLst/>
              <a:cxnLst/>
              <a:rect r="r" b="b" t="t" l="l"/>
              <a:pathLst>
                <a:path h="4955898" w="7813002">
                  <a:moveTo>
                    <a:pt x="0" y="0"/>
                  </a:moveTo>
                  <a:lnTo>
                    <a:pt x="7813002" y="0"/>
                  </a:lnTo>
                  <a:lnTo>
                    <a:pt x="7813002" y="4955898"/>
                  </a:lnTo>
                  <a:lnTo>
                    <a:pt x="0" y="4955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0" id="20"/>
            <p:cNvSpPr txBox="true"/>
            <p:nvPr/>
          </p:nvSpPr>
          <p:spPr>
            <a:xfrm rot="0">
              <a:off x="290598" y="263871"/>
              <a:ext cx="5406410" cy="666115"/>
            </a:xfrm>
            <a:prstGeom prst="rect">
              <a:avLst/>
            </a:prstGeom>
          </p:spPr>
          <p:txBody>
            <a:bodyPr anchor="t" rtlCol="false" tIns="0" lIns="0" bIns="0" rIns="0">
              <a:spAutoFit/>
            </a:bodyPr>
            <a:lstStyle/>
            <a:p>
              <a:pPr algn="ctr" rtl="true">
                <a:lnSpc>
                  <a:spcPts val="4680"/>
                </a:lnSpc>
              </a:pPr>
              <a:r>
                <a:rPr lang="ar-EG" b="true" sz="2600">
                  <a:solidFill>
                    <a:srgbClr val="102E29"/>
                  </a:solidFill>
                  <a:latin typeface="IBM Plex Sans Arabic Bold"/>
                  <a:ea typeface="IBM Plex Sans Arabic Bold"/>
                  <a:cs typeface="IBM Plex Sans Arabic Bold"/>
                  <a:sym typeface="IBM Plex Sans Arabic Bold"/>
                  <a:rtl val="true"/>
                </a:rPr>
                <a:t>مواد امتصاص الموجات الراديوية </a:t>
              </a:r>
            </a:p>
          </p:txBody>
        </p:sp>
      </p:grpSp>
      <p:grpSp>
        <p:nvGrpSpPr>
          <p:cNvPr name="Group 21" id="21"/>
          <p:cNvGrpSpPr/>
          <p:nvPr/>
        </p:nvGrpSpPr>
        <p:grpSpPr>
          <a:xfrm rot="0">
            <a:off x="220223" y="3462295"/>
            <a:ext cx="5860285" cy="3007841"/>
            <a:chOff x="0" y="0"/>
            <a:chExt cx="4187203" cy="2149118"/>
          </a:xfrm>
        </p:grpSpPr>
        <p:sp>
          <p:nvSpPr>
            <p:cNvPr name="Freeform 22" id="22"/>
            <p:cNvSpPr/>
            <p:nvPr/>
          </p:nvSpPr>
          <p:spPr>
            <a:xfrm flipH="false" flipV="false" rot="0">
              <a:off x="0" y="0"/>
              <a:ext cx="4187200" cy="2149117"/>
            </a:xfrm>
            <a:custGeom>
              <a:avLst/>
              <a:gdLst/>
              <a:ahLst/>
              <a:cxnLst/>
              <a:rect r="r" b="b" t="t" l="l"/>
              <a:pathLst>
                <a:path h="2149117" w="4187200">
                  <a:moveTo>
                    <a:pt x="231392" y="0"/>
                  </a:moveTo>
                  <a:lnTo>
                    <a:pt x="3955807" y="0"/>
                  </a:lnTo>
                  <a:cubicBezTo>
                    <a:pt x="4083602" y="0"/>
                    <a:pt x="4187200" y="103598"/>
                    <a:pt x="4187200" y="231392"/>
                  </a:cubicBezTo>
                  <a:lnTo>
                    <a:pt x="4187200" y="1917724"/>
                  </a:lnTo>
                  <a:cubicBezTo>
                    <a:pt x="4187200" y="2045519"/>
                    <a:pt x="4083602" y="2149117"/>
                    <a:pt x="3955807" y="2149117"/>
                  </a:cubicBezTo>
                  <a:lnTo>
                    <a:pt x="231392" y="2149117"/>
                  </a:lnTo>
                  <a:cubicBezTo>
                    <a:pt x="103598" y="2149117"/>
                    <a:pt x="0" y="2045519"/>
                    <a:pt x="0" y="1917724"/>
                  </a:cubicBezTo>
                  <a:lnTo>
                    <a:pt x="0" y="231392"/>
                  </a:lnTo>
                  <a:cubicBezTo>
                    <a:pt x="0" y="103598"/>
                    <a:pt x="103598" y="0"/>
                    <a:pt x="231392" y="0"/>
                  </a:cubicBezTo>
                  <a:close/>
                </a:path>
              </a:pathLst>
            </a:custGeom>
            <a:blipFill>
              <a:blip r:embed="rId7">
                <a:alphaModFix amt="0"/>
              </a:blip>
              <a:stretch>
                <a:fillRect l="-6258" t="0" r="-6258" b="14569"/>
              </a:stretch>
            </a:blipFill>
          </p:spPr>
        </p:sp>
        <p:sp>
          <p:nvSpPr>
            <p:cNvPr name="TextBox 23" id="23"/>
            <p:cNvSpPr txBox="true"/>
            <p:nvPr/>
          </p:nvSpPr>
          <p:spPr>
            <a:xfrm>
              <a:off x="0" y="-142875"/>
              <a:ext cx="4187203" cy="2291993"/>
            </a:xfrm>
            <a:prstGeom prst="rect">
              <a:avLst/>
            </a:prstGeom>
          </p:spPr>
          <p:txBody>
            <a:bodyPr anchor="ctr" rtlCol="false" tIns="0" lIns="0" bIns="0" rIns="0"/>
            <a:lstStyle/>
            <a:p>
              <a:pPr algn="ctr" rtl="true">
                <a:lnSpc>
                  <a:spcPts val="4679"/>
                </a:lnSpc>
              </a:pPr>
              <a:r>
                <a:rPr lang="ar-EG" b="true" sz="2599">
                  <a:solidFill>
                    <a:srgbClr val="FFFFFF"/>
                  </a:solidFill>
                  <a:latin typeface="IBM Plex Sans Arabic Bold"/>
                  <a:ea typeface="IBM Plex Sans Arabic Bold"/>
                  <a:cs typeface="IBM Plex Sans Arabic Bold"/>
                  <a:sym typeface="IBM Plex Sans Arabic Bold"/>
                  <a:rtl val="true"/>
                </a:rPr>
                <a:t>تُقلّل المقطع العرضي الراداري (</a:t>
              </a:r>
              <a:r>
                <a:rPr lang="en-US" b="true" sz="2599">
                  <a:solidFill>
                    <a:srgbClr val="FFFFFF"/>
                  </a:solidFill>
                  <a:latin typeface="IBM Plex Sans Arabic Bold"/>
                  <a:ea typeface="IBM Plex Sans Arabic Bold"/>
                  <a:cs typeface="IBM Plex Sans Arabic Bold"/>
                  <a:sym typeface="IBM Plex Sans Arabic Bold"/>
                </a:rPr>
                <a:t>RCS</a:t>
              </a:r>
              <a:r>
                <a:rPr lang="ar-EG" b="true" sz="2599">
                  <a:solidFill>
                    <a:srgbClr val="FFFFFF"/>
                  </a:solidFill>
                  <a:latin typeface="IBM Plex Sans Arabic Bold"/>
                  <a:ea typeface="IBM Plex Sans Arabic Bold"/>
                  <a:cs typeface="IBM Plex Sans Arabic Bold"/>
                  <a:sym typeface="IBM Plex Sans Arabic Bold"/>
                  <a:rtl val="true"/>
                </a:rPr>
                <a:t>) وتجعل الهدف يختفي عن شاشة الرادار.</a:t>
              </a:r>
            </a:p>
          </p:txBody>
        </p:sp>
      </p:grpSp>
      <p:grpSp>
        <p:nvGrpSpPr>
          <p:cNvPr name="Group 24" id="24"/>
          <p:cNvGrpSpPr/>
          <p:nvPr/>
        </p:nvGrpSpPr>
        <p:grpSpPr>
          <a:xfrm rot="0">
            <a:off x="12207492" y="7722337"/>
            <a:ext cx="5860285" cy="2036826"/>
            <a:chOff x="0" y="0"/>
            <a:chExt cx="1205820" cy="419100"/>
          </a:xfrm>
        </p:grpSpPr>
        <p:sp>
          <p:nvSpPr>
            <p:cNvPr name="Freeform 25" id="25"/>
            <p:cNvSpPr/>
            <p:nvPr/>
          </p:nvSpPr>
          <p:spPr>
            <a:xfrm flipH="false" flipV="false" rot="0">
              <a:off x="0" y="0"/>
              <a:ext cx="1205820" cy="419100"/>
            </a:xfrm>
            <a:custGeom>
              <a:avLst/>
              <a:gdLst/>
              <a:ahLst/>
              <a:cxnLst/>
              <a:rect r="r" b="b" t="t" l="l"/>
              <a:pathLst>
                <a:path h="419100" w="1205820">
                  <a:moveTo>
                    <a:pt x="65022" y="0"/>
                  </a:moveTo>
                  <a:lnTo>
                    <a:pt x="1140798" y="0"/>
                  </a:lnTo>
                  <a:cubicBezTo>
                    <a:pt x="1176709" y="0"/>
                    <a:pt x="1205820" y="29111"/>
                    <a:pt x="1205820" y="65022"/>
                  </a:cubicBezTo>
                  <a:lnTo>
                    <a:pt x="1205820" y="354078"/>
                  </a:lnTo>
                  <a:cubicBezTo>
                    <a:pt x="1205820" y="389989"/>
                    <a:pt x="1176709" y="419100"/>
                    <a:pt x="1140798" y="419100"/>
                  </a:cubicBezTo>
                  <a:lnTo>
                    <a:pt x="65022" y="419100"/>
                  </a:lnTo>
                  <a:cubicBezTo>
                    <a:pt x="29111" y="419100"/>
                    <a:pt x="0" y="389989"/>
                    <a:pt x="0" y="354078"/>
                  </a:cubicBezTo>
                  <a:lnTo>
                    <a:pt x="0" y="65022"/>
                  </a:lnTo>
                  <a:cubicBezTo>
                    <a:pt x="0" y="29111"/>
                    <a:pt x="29111" y="0"/>
                    <a:pt x="65022" y="0"/>
                  </a:cubicBezTo>
                  <a:close/>
                </a:path>
              </a:pathLst>
            </a:custGeom>
            <a:solidFill>
              <a:srgbClr val="07C08D"/>
            </a:solidFill>
          </p:spPr>
        </p:sp>
        <p:sp>
          <p:nvSpPr>
            <p:cNvPr name="TextBox 26" id="26"/>
            <p:cNvSpPr txBox="true"/>
            <p:nvPr/>
          </p:nvSpPr>
          <p:spPr>
            <a:xfrm>
              <a:off x="0" y="-38100"/>
              <a:ext cx="1205820" cy="457200"/>
            </a:xfrm>
            <a:prstGeom prst="rect">
              <a:avLst/>
            </a:prstGeom>
          </p:spPr>
          <p:txBody>
            <a:bodyPr anchor="ctr" rtlCol="false" tIns="50800" lIns="50800" bIns="50800" rIns="50800"/>
            <a:lstStyle/>
            <a:p>
              <a:pPr algn="ctr" rtl="true">
                <a:lnSpc>
                  <a:spcPts val="3588"/>
                </a:lnSpc>
              </a:pPr>
              <a:r>
                <a:rPr lang="ar-EG" b="true" sz="2600">
                  <a:solidFill>
                    <a:srgbClr val="FFFFFF"/>
                  </a:solidFill>
                  <a:latin typeface="IBM Plex Sans Arabic Bold"/>
                  <a:ea typeface="IBM Plex Sans Arabic Bold"/>
                  <a:cs typeface="IBM Plex Sans Arabic Bold"/>
                  <a:sym typeface="IBM Plex Sans Arabic Bold"/>
                  <a:rtl val="true"/>
                </a:rPr>
                <a:t>النظام يعمل على كاميرات متعددة</a:t>
              </a:r>
              <a:r>
                <a:rPr lang="ar-EG" b="true" sz="2600">
                  <a:solidFill>
                    <a:srgbClr val="FFFFFF"/>
                  </a:solidFill>
                  <a:latin typeface="IBM Plex Sans Arabic Bold"/>
                  <a:ea typeface="IBM Plex Sans Arabic Bold"/>
                  <a:cs typeface="IBM Plex Sans Arabic Bold"/>
                  <a:sym typeface="IBM Plex Sans Arabic Bold"/>
                  <a:rtl val="true"/>
                </a:rPr>
                <a:t> المواقع تكشف الأهداف المنخفضة التي يفوتها الرادار</a:t>
              </a:r>
            </a:p>
          </p:txBody>
        </p:sp>
      </p:grpSp>
      <p:sp>
        <p:nvSpPr>
          <p:cNvPr name="TextBox 27" id="27"/>
          <p:cNvSpPr txBox="true"/>
          <p:nvPr/>
        </p:nvSpPr>
        <p:spPr>
          <a:xfrm rot="0">
            <a:off x="4606991" y="1007650"/>
            <a:ext cx="12538513" cy="910139"/>
          </a:xfrm>
          <a:prstGeom prst="rect">
            <a:avLst/>
          </a:prstGeom>
        </p:spPr>
        <p:txBody>
          <a:bodyPr anchor="t" rtlCol="false" tIns="0" lIns="0" bIns="0" rIns="0">
            <a:spAutoFit/>
          </a:bodyPr>
          <a:lstStyle/>
          <a:p>
            <a:pPr algn="r" rtl="true">
              <a:lnSpc>
                <a:spcPts val="7679"/>
              </a:lnSpc>
            </a:pPr>
            <a:r>
              <a:rPr lang="ar-EG" b="true" sz="4872">
                <a:solidFill>
                  <a:srgbClr val="08784E"/>
                </a:solidFill>
                <a:latin typeface="IBM Plex Sans Arabic Bold"/>
                <a:ea typeface="IBM Plex Sans Arabic Bold"/>
                <a:cs typeface="IBM Plex Sans Arabic Bold"/>
                <a:sym typeface="IBM Plex Sans Arabic Bold"/>
                <a:rtl val="true"/>
              </a:rPr>
              <a:t>الحدود التقنية للرادرات الحاليه و كيف يحلها نظامنا :</a:t>
            </a:r>
          </a:p>
        </p:txBody>
      </p:sp>
      <p:grpSp>
        <p:nvGrpSpPr>
          <p:cNvPr name="Group 28" id="28"/>
          <p:cNvGrpSpPr/>
          <p:nvPr/>
        </p:nvGrpSpPr>
        <p:grpSpPr>
          <a:xfrm rot="0">
            <a:off x="6232908" y="7722337"/>
            <a:ext cx="5860285" cy="2036826"/>
            <a:chOff x="0" y="0"/>
            <a:chExt cx="1205820" cy="419100"/>
          </a:xfrm>
        </p:grpSpPr>
        <p:sp>
          <p:nvSpPr>
            <p:cNvPr name="Freeform 29" id="29"/>
            <p:cNvSpPr/>
            <p:nvPr/>
          </p:nvSpPr>
          <p:spPr>
            <a:xfrm flipH="false" flipV="false" rot="0">
              <a:off x="0" y="0"/>
              <a:ext cx="1205820" cy="419100"/>
            </a:xfrm>
            <a:custGeom>
              <a:avLst/>
              <a:gdLst/>
              <a:ahLst/>
              <a:cxnLst/>
              <a:rect r="r" b="b" t="t" l="l"/>
              <a:pathLst>
                <a:path h="419100" w="1205820">
                  <a:moveTo>
                    <a:pt x="65022" y="0"/>
                  </a:moveTo>
                  <a:lnTo>
                    <a:pt x="1140798" y="0"/>
                  </a:lnTo>
                  <a:cubicBezTo>
                    <a:pt x="1176709" y="0"/>
                    <a:pt x="1205820" y="29111"/>
                    <a:pt x="1205820" y="65022"/>
                  </a:cubicBezTo>
                  <a:lnTo>
                    <a:pt x="1205820" y="354078"/>
                  </a:lnTo>
                  <a:cubicBezTo>
                    <a:pt x="1205820" y="389989"/>
                    <a:pt x="1176709" y="419100"/>
                    <a:pt x="1140798" y="419100"/>
                  </a:cubicBezTo>
                  <a:lnTo>
                    <a:pt x="65022" y="419100"/>
                  </a:lnTo>
                  <a:cubicBezTo>
                    <a:pt x="29111" y="419100"/>
                    <a:pt x="0" y="389989"/>
                    <a:pt x="0" y="354078"/>
                  </a:cubicBezTo>
                  <a:lnTo>
                    <a:pt x="0" y="65022"/>
                  </a:lnTo>
                  <a:cubicBezTo>
                    <a:pt x="0" y="29111"/>
                    <a:pt x="29111" y="0"/>
                    <a:pt x="65022" y="0"/>
                  </a:cubicBezTo>
                  <a:close/>
                </a:path>
              </a:pathLst>
            </a:custGeom>
            <a:solidFill>
              <a:srgbClr val="07C08D"/>
            </a:solidFill>
          </p:spPr>
        </p:sp>
        <p:sp>
          <p:nvSpPr>
            <p:cNvPr name="TextBox 30" id="30"/>
            <p:cNvSpPr txBox="true"/>
            <p:nvPr/>
          </p:nvSpPr>
          <p:spPr>
            <a:xfrm>
              <a:off x="0" y="-38100"/>
              <a:ext cx="1205820" cy="457200"/>
            </a:xfrm>
            <a:prstGeom prst="rect">
              <a:avLst/>
            </a:prstGeom>
          </p:spPr>
          <p:txBody>
            <a:bodyPr anchor="ctr" rtlCol="false" tIns="50800" lIns="50800" bIns="50800" rIns="50800"/>
            <a:lstStyle/>
            <a:p>
              <a:pPr algn="ctr">
                <a:lnSpc>
                  <a:spcPts val="3588"/>
                </a:lnSpc>
              </a:pPr>
              <a:r>
                <a:rPr lang="ar-EG" b="true" sz="2600">
                  <a:solidFill>
                    <a:srgbClr val="FFFFFF"/>
                  </a:solidFill>
                  <a:latin typeface="IBM Plex Sans Arabic Bold"/>
                  <a:ea typeface="IBM Plex Sans Arabic Bold"/>
                  <a:cs typeface="IBM Plex Sans Arabic Bold"/>
                  <a:sym typeface="IBM Plex Sans Arabic Bold"/>
                  <a:rtl val="true"/>
                </a:rPr>
                <a:t>النظام يعمل على الضوء المرئي، مما يجعله محصّناً تماماً ضد أي تشويش إلكتروني</a:t>
              </a:r>
              <a:r>
                <a:rPr lang="en-US" b="true" sz="2600">
                  <a:solidFill>
                    <a:srgbClr val="FFFFFF"/>
                  </a:solidFill>
                  <a:latin typeface="IBM Plex Sans Arabic Bold"/>
                  <a:ea typeface="IBM Plex Sans Arabic Bold"/>
                  <a:cs typeface="IBM Plex Sans Arabic Bold"/>
                  <a:sym typeface="IBM Plex Sans Arabic Bold"/>
                </a:rPr>
                <a:t> . </a:t>
              </a:r>
            </a:p>
          </p:txBody>
        </p:sp>
      </p:grpSp>
      <p:grpSp>
        <p:nvGrpSpPr>
          <p:cNvPr name="Group 31" id="31"/>
          <p:cNvGrpSpPr/>
          <p:nvPr/>
        </p:nvGrpSpPr>
        <p:grpSpPr>
          <a:xfrm rot="0">
            <a:off x="220223" y="7722337"/>
            <a:ext cx="5860285" cy="2036826"/>
            <a:chOff x="0" y="0"/>
            <a:chExt cx="1205820" cy="419100"/>
          </a:xfrm>
        </p:grpSpPr>
        <p:sp>
          <p:nvSpPr>
            <p:cNvPr name="Freeform 32" id="32"/>
            <p:cNvSpPr/>
            <p:nvPr/>
          </p:nvSpPr>
          <p:spPr>
            <a:xfrm flipH="false" flipV="false" rot="0">
              <a:off x="0" y="0"/>
              <a:ext cx="1205820" cy="419100"/>
            </a:xfrm>
            <a:custGeom>
              <a:avLst/>
              <a:gdLst/>
              <a:ahLst/>
              <a:cxnLst/>
              <a:rect r="r" b="b" t="t" l="l"/>
              <a:pathLst>
                <a:path h="419100" w="1205820">
                  <a:moveTo>
                    <a:pt x="65022" y="0"/>
                  </a:moveTo>
                  <a:lnTo>
                    <a:pt x="1140798" y="0"/>
                  </a:lnTo>
                  <a:cubicBezTo>
                    <a:pt x="1176709" y="0"/>
                    <a:pt x="1205820" y="29111"/>
                    <a:pt x="1205820" y="65022"/>
                  </a:cubicBezTo>
                  <a:lnTo>
                    <a:pt x="1205820" y="354078"/>
                  </a:lnTo>
                  <a:cubicBezTo>
                    <a:pt x="1205820" y="389989"/>
                    <a:pt x="1176709" y="419100"/>
                    <a:pt x="1140798" y="419100"/>
                  </a:cubicBezTo>
                  <a:lnTo>
                    <a:pt x="65022" y="419100"/>
                  </a:lnTo>
                  <a:cubicBezTo>
                    <a:pt x="29111" y="419100"/>
                    <a:pt x="0" y="389989"/>
                    <a:pt x="0" y="354078"/>
                  </a:cubicBezTo>
                  <a:lnTo>
                    <a:pt x="0" y="65022"/>
                  </a:lnTo>
                  <a:cubicBezTo>
                    <a:pt x="0" y="29111"/>
                    <a:pt x="29111" y="0"/>
                    <a:pt x="65022" y="0"/>
                  </a:cubicBezTo>
                  <a:close/>
                </a:path>
              </a:pathLst>
            </a:custGeom>
            <a:solidFill>
              <a:srgbClr val="07C08D"/>
            </a:solidFill>
          </p:spPr>
        </p:sp>
        <p:sp>
          <p:nvSpPr>
            <p:cNvPr name="TextBox 33" id="33"/>
            <p:cNvSpPr txBox="true"/>
            <p:nvPr/>
          </p:nvSpPr>
          <p:spPr>
            <a:xfrm>
              <a:off x="0" y="-38100"/>
              <a:ext cx="1205820" cy="457200"/>
            </a:xfrm>
            <a:prstGeom prst="rect">
              <a:avLst/>
            </a:prstGeom>
          </p:spPr>
          <p:txBody>
            <a:bodyPr anchor="ctr" rtlCol="false" tIns="50800" lIns="50800" bIns="50800" rIns="50800"/>
            <a:lstStyle/>
            <a:p>
              <a:pPr algn="ctr" rtl="true">
                <a:lnSpc>
                  <a:spcPts val="3588"/>
                </a:lnSpc>
              </a:pPr>
              <a:r>
                <a:rPr lang="ar-EG" b="true" sz="2600">
                  <a:solidFill>
                    <a:srgbClr val="FFFFFF"/>
                  </a:solidFill>
                  <a:latin typeface="IBM Plex Sans Arabic Bold"/>
                  <a:ea typeface="IBM Plex Sans Arabic Bold"/>
                  <a:cs typeface="IBM Plex Sans Arabic Bold"/>
                  <a:sym typeface="IBM Plex Sans Arabic Bold"/>
                  <a:rtl val="true"/>
                </a:rPr>
                <a:t>النظام يكتشف الهدف من شكله البصري بغض النظر عن طلاءاته، فالطائرة الشبحية لا تزال مرئية للكاميرا.</a:t>
              </a:r>
            </a:p>
          </p:txBody>
        </p:sp>
      </p:grpSp>
      <p:sp>
        <p:nvSpPr>
          <p:cNvPr name="AutoShape 34" id="34"/>
          <p:cNvSpPr/>
          <p:nvPr/>
        </p:nvSpPr>
        <p:spPr>
          <a:xfrm>
            <a:off x="15137439" y="6346133"/>
            <a:ext cx="0" cy="1093180"/>
          </a:xfrm>
          <a:prstGeom prst="line">
            <a:avLst/>
          </a:prstGeom>
          <a:ln cap="flat" w="133350">
            <a:solidFill>
              <a:srgbClr val="FFFFFF"/>
            </a:solidFill>
            <a:prstDash val="solid"/>
            <a:headEnd type="none" len="sm" w="sm"/>
            <a:tailEnd type="triangle" len="med" w="lg"/>
          </a:ln>
        </p:spPr>
      </p:sp>
      <p:sp>
        <p:nvSpPr>
          <p:cNvPr name="AutoShape 35" id="35"/>
          <p:cNvSpPr/>
          <p:nvPr/>
        </p:nvSpPr>
        <p:spPr>
          <a:xfrm>
            <a:off x="9144000" y="6346133"/>
            <a:ext cx="0" cy="1093180"/>
          </a:xfrm>
          <a:prstGeom prst="line">
            <a:avLst/>
          </a:prstGeom>
          <a:ln cap="flat" w="133350">
            <a:solidFill>
              <a:srgbClr val="FFFFFF"/>
            </a:solidFill>
            <a:prstDash val="solid"/>
            <a:headEnd type="none" len="sm" w="sm"/>
            <a:tailEnd type="triangle" len="med" w="lg"/>
          </a:ln>
        </p:spPr>
      </p:sp>
      <p:sp>
        <p:nvSpPr>
          <p:cNvPr name="AutoShape 36" id="36"/>
          <p:cNvSpPr/>
          <p:nvPr/>
        </p:nvSpPr>
        <p:spPr>
          <a:xfrm>
            <a:off x="2989027" y="6346133"/>
            <a:ext cx="0" cy="1093180"/>
          </a:xfrm>
          <a:prstGeom prst="line">
            <a:avLst/>
          </a:prstGeom>
          <a:ln cap="flat" w="133350">
            <a:solidFill>
              <a:srgbClr val="FFFFFF"/>
            </a:solidFill>
            <a:prstDash val="solid"/>
            <a:headEnd type="none" len="sm" w="sm"/>
            <a:tailEnd type="triangle" len="med" w="lg"/>
          </a:ln>
        </p:spPr>
      </p:sp>
      <p:sp>
        <p:nvSpPr>
          <p:cNvPr name="TextBox 37" id="37"/>
          <p:cNvSpPr txBox="true"/>
          <p:nvPr/>
        </p:nvSpPr>
        <p:spPr>
          <a:xfrm rot="0">
            <a:off x="16088281" y="6460611"/>
            <a:ext cx="1254284" cy="778497"/>
          </a:xfrm>
          <a:prstGeom prst="rect">
            <a:avLst/>
          </a:prstGeom>
        </p:spPr>
        <p:txBody>
          <a:bodyPr anchor="t" rtlCol="false" tIns="0" lIns="0" bIns="0" rIns="0">
            <a:spAutoFit/>
          </a:bodyPr>
          <a:lstStyle/>
          <a:p>
            <a:pPr algn="ctr" rtl="true">
              <a:lnSpc>
                <a:spcPts val="6440"/>
              </a:lnSpc>
            </a:pPr>
            <a:r>
              <a:rPr lang="ar-EG" b="true" sz="4600">
                <a:solidFill>
                  <a:srgbClr val="FFFFFF"/>
                </a:solidFill>
                <a:latin typeface="Open Sans Bold"/>
                <a:ea typeface="Open Sans Bold"/>
                <a:cs typeface="Open Sans Bold"/>
                <a:sym typeface="Open Sans Bold"/>
                <a:rtl val="true"/>
              </a:rPr>
              <a:t>حلها:</a:t>
            </a:r>
          </a:p>
        </p:txBody>
      </p:sp>
      <p:sp>
        <p:nvSpPr>
          <p:cNvPr name="TextBox 38" id="38"/>
          <p:cNvSpPr txBox="true"/>
          <p:nvPr/>
        </p:nvSpPr>
        <p:spPr>
          <a:xfrm rot="0">
            <a:off x="10315426" y="6460611"/>
            <a:ext cx="1254284" cy="778497"/>
          </a:xfrm>
          <a:prstGeom prst="rect">
            <a:avLst/>
          </a:prstGeom>
        </p:spPr>
        <p:txBody>
          <a:bodyPr anchor="t" rtlCol="false" tIns="0" lIns="0" bIns="0" rIns="0">
            <a:spAutoFit/>
          </a:bodyPr>
          <a:lstStyle/>
          <a:p>
            <a:pPr algn="ctr" rtl="true">
              <a:lnSpc>
                <a:spcPts val="6440"/>
              </a:lnSpc>
            </a:pPr>
            <a:r>
              <a:rPr lang="ar-EG" b="true" sz="4600">
                <a:solidFill>
                  <a:srgbClr val="FFFFFF"/>
                </a:solidFill>
                <a:latin typeface="Open Sans Bold"/>
                <a:ea typeface="Open Sans Bold"/>
                <a:cs typeface="Open Sans Bold"/>
                <a:sym typeface="Open Sans Bold"/>
                <a:rtl val="true"/>
              </a:rPr>
              <a:t>حلها:</a:t>
            </a:r>
          </a:p>
        </p:txBody>
      </p:sp>
      <p:sp>
        <p:nvSpPr>
          <p:cNvPr name="TextBox 39" id="39"/>
          <p:cNvSpPr txBox="true"/>
          <p:nvPr/>
        </p:nvSpPr>
        <p:spPr>
          <a:xfrm rot="0">
            <a:off x="4008202" y="6460611"/>
            <a:ext cx="1254284" cy="778497"/>
          </a:xfrm>
          <a:prstGeom prst="rect">
            <a:avLst/>
          </a:prstGeom>
        </p:spPr>
        <p:txBody>
          <a:bodyPr anchor="t" rtlCol="false" tIns="0" lIns="0" bIns="0" rIns="0">
            <a:spAutoFit/>
          </a:bodyPr>
          <a:lstStyle/>
          <a:p>
            <a:pPr algn="ctr" rtl="true">
              <a:lnSpc>
                <a:spcPts val="6440"/>
              </a:lnSpc>
            </a:pPr>
            <a:r>
              <a:rPr lang="ar-EG" b="true" sz="4600">
                <a:solidFill>
                  <a:srgbClr val="FFFFFF"/>
                </a:solidFill>
                <a:latin typeface="Open Sans Bold"/>
                <a:ea typeface="Open Sans Bold"/>
                <a:cs typeface="Open Sans Bold"/>
                <a:sym typeface="Open Sans Bold"/>
                <a:rtl val="true"/>
              </a:rPr>
              <a:t>حلها:</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02E29"/>
        </a:solidFill>
      </p:bgPr>
    </p:bg>
    <p:spTree>
      <p:nvGrpSpPr>
        <p:cNvPr id="1" name=""/>
        <p:cNvGrpSpPr/>
        <p:nvPr/>
      </p:nvGrpSpPr>
      <p:grpSpPr>
        <a:xfrm>
          <a:off x="0" y="0"/>
          <a:ext cx="0" cy="0"/>
          <a:chOff x="0" y="0"/>
          <a:chExt cx="0" cy="0"/>
        </a:xfrm>
      </p:grpSpPr>
      <p:grpSp>
        <p:nvGrpSpPr>
          <p:cNvPr name="Group 2" id="2"/>
          <p:cNvGrpSpPr/>
          <p:nvPr/>
        </p:nvGrpSpPr>
        <p:grpSpPr>
          <a:xfrm rot="0">
            <a:off x="0" y="0"/>
            <a:ext cx="6871002" cy="10287000"/>
            <a:chOff x="0" y="0"/>
            <a:chExt cx="9161336" cy="13716000"/>
          </a:xfrm>
        </p:grpSpPr>
        <p:sp>
          <p:nvSpPr>
            <p:cNvPr name="Freeform 3" id="3"/>
            <p:cNvSpPr/>
            <p:nvPr/>
          </p:nvSpPr>
          <p:spPr>
            <a:xfrm flipH="false" flipV="false" rot="0">
              <a:off x="0" y="0"/>
              <a:ext cx="9161272" cy="13716000"/>
            </a:xfrm>
            <a:custGeom>
              <a:avLst/>
              <a:gdLst/>
              <a:ahLst/>
              <a:cxnLst/>
              <a:rect r="r" b="b" t="t" l="l"/>
              <a:pathLst>
                <a:path h="13716000" w="9161272">
                  <a:moveTo>
                    <a:pt x="0" y="0"/>
                  </a:moveTo>
                  <a:lnTo>
                    <a:pt x="9161272" y="0"/>
                  </a:lnTo>
                  <a:lnTo>
                    <a:pt x="9161272" y="13716000"/>
                  </a:lnTo>
                  <a:lnTo>
                    <a:pt x="0" y="13716000"/>
                  </a:lnTo>
                  <a:lnTo>
                    <a:pt x="0" y="0"/>
                  </a:lnTo>
                  <a:close/>
                </a:path>
              </a:pathLst>
            </a:custGeom>
            <a:blipFill>
              <a:blip r:embed="rId3"/>
              <a:stretch>
                <a:fillRect l="-86765" t="-7499" r="6252" b="-13069"/>
              </a:stretch>
            </a:blipFill>
          </p:spPr>
        </p:sp>
      </p:grpSp>
      <p:grpSp>
        <p:nvGrpSpPr>
          <p:cNvPr name="Group 4" id="4"/>
          <p:cNvGrpSpPr/>
          <p:nvPr/>
        </p:nvGrpSpPr>
        <p:grpSpPr>
          <a:xfrm rot="0">
            <a:off x="21869" y="5450548"/>
            <a:ext cx="4135203" cy="4836452"/>
            <a:chOff x="0" y="0"/>
            <a:chExt cx="5513603" cy="6448603"/>
          </a:xfrm>
        </p:grpSpPr>
        <p:sp>
          <p:nvSpPr>
            <p:cNvPr name="Freeform 5" id="5"/>
            <p:cNvSpPr/>
            <p:nvPr/>
          </p:nvSpPr>
          <p:spPr>
            <a:xfrm flipH="false" flipV="false" rot="0">
              <a:off x="0" y="0"/>
              <a:ext cx="5513578" cy="6448552"/>
            </a:xfrm>
            <a:custGeom>
              <a:avLst/>
              <a:gdLst/>
              <a:ahLst/>
              <a:cxnLst/>
              <a:rect r="r" b="b" t="t" l="l"/>
              <a:pathLst>
                <a:path h="6448552" w="5513578">
                  <a:moveTo>
                    <a:pt x="0" y="0"/>
                  </a:moveTo>
                  <a:lnTo>
                    <a:pt x="5513578" y="0"/>
                  </a:lnTo>
                  <a:lnTo>
                    <a:pt x="5513578" y="6448552"/>
                  </a:lnTo>
                  <a:lnTo>
                    <a:pt x="0" y="6448552"/>
                  </a:lnTo>
                  <a:lnTo>
                    <a:pt x="0" y="0"/>
                  </a:lnTo>
                  <a:close/>
                </a:path>
              </a:pathLst>
            </a:custGeom>
            <a:blipFill>
              <a:blip r:embed="rId4"/>
              <a:stretch>
                <a:fillRect l="-29209" t="13790" r="7729" b="-36940"/>
              </a:stretch>
            </a:blipFill>
          </p:spPr>
        </p:sp>
      </p:grpSp>
      <p:sp>
        <p:nvSpPr>
          <p:cNvPr name="TextBox 6" id="6"/>
          <p:cNvSpPr txBox="true"/>
          <p:nvPr/>
        </p:nvSpPr>
        <p:spPr>
          <a:xfrm rot="0">
            <a:off x="10928778" y="1762496"/>
            <a:ext cx="6216727" cy="910139"/>
          </a:xfrm>
          <a:prstGeom prst="rect">
            <a:avLst/>
          </a:prstGeom>
        </p:spPr>
        <p:txBody>
          <a:bodyPr anchor="t" rtlCol="false" tIns="0" lIns="0" bIns="0" rIns="0">
            <a:spAutoFit/>
          </a:bodyPr>
          <a:lstStyle/>
          <a:p>
            <a:pPr algn="r" rtl="true">
              <a:lnSpc>
                <a:spcPts val="7679"/>
              </a:lnSpc>
            </a:pPr>
            <a:r>
              <a:rPr lang="ar-EG" b="true" sz="4872">
                <a:solidFill>
                  <a:srgbClr val="08784E"/>
                </a:solidFill>
                <a:latin typeface="IBM Plex Sans Arabic Bold"/>
                <a:ea typeface="IBM Plex Sans Arabic Bold"/>
                <a:cs typeface="IBM Plex Sans Arabic Bold"/>
                <a:sym typeface="IBM Plex Sans Arabic Bold"/>
                <a:rtl val="true"/>
              </a:rPr>
              <a:t>مميزات اضافيه في النظام:</a:t>
            </a:r>
          </a:p>
        </p:txBody>
      </p:sp>
      <p:grpSp>
        <p:nvGrpSpPr>
          <p:cNvPr name="Group 7" id="7"/>
          <p:cNvGrpSpPr/>
          <p:nvPr/>
        </p:nvGrpSpPr>
        <p:grpSpPr>
          <a:xfrm rot="0">
            <a:off x="9414548" y="3589096"/>
            <a:ext cx="7537199" cy="1584503"/>
            <a:chOff x="0" y="0"/>
            <a:chExt cx="10049599" cy="2112670"/>
          </a:xfrm>
        </p:grpSpPr>
        <p:sp>
          <p:nvSpPr>
            <p:cNvPr name="Freeform 8" id="8"/>
            <p:cNvSpPr/>
            <p:nvPr/>
          </p:nvSpPr>
          <p:spPr>
            <a:xfrm flipH="false" flipV="false" rot="0">
              <a:off x="0" y="0"/>
              <a:ext cx="10049637" cy="2112696"/>
            </a:xfrm>
            <a:custGeom>
              <a:avLst/>
              <a:gdLst/>
              <a:ahLst/>
              <a:cxnLst/>
              <a:rect r="r" b="b" t="t" l="l"/>
              <a:pathLst>
                <a:path h="2112696" w="10049637">
                  <a:moveTo>
                    <a:pt x="0" y="352163"/>
                  </a:moveTo>
                  <a:cubicBezTo>
                    <a:pt x="0" y="157614"/>
                    <a:pt x="141986" y="0"/>
                    <a:pt x="317246" y="0"/>
                  </a:cubicBezTo>
                  <a:lnTo>
                    <a:pt x="9732391" y="0"/>
                  </a:lnTo>
                  <a:cubicBezTo>
                    <a:pt x="9907524" y="0"/>
                    <a:pt x="10049637" y="157614"/>
                    <a:pt x="10049637" y="352163"/>
                  </a:cubicBezTo>
                  <a:lnTo>
                    <a:pt x="10049637" y="1760535"/>
                  </a:lnTo>
                  <a:cubicBezTo>
                    <a:pt x="10049637" y="1954944"/>
                    <a:pt x="9907651" y="2112696"/>
                    <a:pt x="9732391" y="2112696"/>
                  </a:cubicBezTo>
                  <a:lnTo>
                    <a:pt x="317246" y="2112696"/>
                  </a:lnTo>
                  <a:cubicBezTo>
                    <a:pt x="141986" y="2112696"/>
                    <a:pt x="0" y="1955085"/>
                    <a:pt x="0" y="1760535"/>
                  </a:cubicBezTo>
                  <a:close/>
                </a:path>
              </a:pathLst>
            </a:custGeom>
            <a:solidFill>
              <a:srgbClr val="2CAE7D">
                <a:alpha val="12157"/>
              </a:srgbClr>
            </a:solidFill>
          </p:spPr>
        </p:sp>
        <p:sp>
          <p:nvSpPr>
            <p:cNvPr name="TextBox 9" id="9"/>
            <p:cNvSpPr txBox="true"/>
            <p:nvPr/>
          </p:nvSpPr>
          <p:spPr>
            <a:xfrm>
              <a:off x="0" y="-57150"/>
              <a:ext cx="10049599" cy="2169820"/>
            </a:xfrm>
            <a:prstGeom prst="rect">
              <a:avLst/>
            </a:prstGeom>
          </p:spPr>
          <p:txBody>
            <a:bodyPr anchor="ctr" rtlCol="false" tIns="50800" lIns="50800" bIns="50800" rIns="50800"/>
            <a:lstStyle/>
            <a:p>
              <a:pPr algn="r" rtl="true" marL="777240" indent="-388620" lvl="1">
                <a:lnSpc>
                  <a:spcPts val="4967"/>
                </a:lnSpc>
                <a:buAutoNum type="arabicPeriod" startAt="1"/>
              </a:pPr>
              <a:r>
                <a:rPr lang="ar-EG" sz="3600">
                  <a:solidFill>
                    <a:srgbClr val="FFFFFF"/>
                  </a:solidFill>
                  <a:latin typeface="IBM Plex Sans Arabic"/>
                  <a:ea typeface="IBM Plex Sans Arabic"/>
                  <a:cs typeface="IBM Plex Sans Arabic"/>
                  <a:sym typeface="IBM Plex Sans Arabic"/>
                  <a:rtl val="true"/>
                </a:rPr>
                <a:t> النظام يعمل على انظمة التشغيل :</a:t>
              </a:r>
            </a:p>
            <a:p>
              <a:pPr algn="r" rtl="true">
                <a:lnSpc>
                  <a:spcPts val="4967"/>
                </a:lnSpc>
              </a:pPr>
              <a:r>
                <a:rPr lang="ar-EG" sz="3600">
                  <a:solidFill>
                    <a:srgbClr val="FFFFFF"/>
                  </a:solidFill>
                  <a:latin typeface="IBM Plex Sans Arabic"/>
                  <a:ea typeface="IBM Plex Sans Arabic"/>
                  <a:cs typeface="IBM Plex Sans Arabic"/>
                  <a:sym typeface="IBM Plex Sans Arabic"/>
                  <a:rtl val="true"/>
                </a:rPr>
                <a:t>ويندوز و ماك.</a:t>
              </a:r>
            </a:p>
          </p:txBody>
        </p:sp>
      </p:grpSp>
      <p:grpSp>
        <p:nvGrpSpPr>
          <p:cNvPr name="Group 10" id="10"/>
          <p:cNvGrpSpPr/>
          <p:nvPr/>
        </p:nvGrpSpPr>
        <p:grpSpPr>
          <a:xfrm rot="0">
            <a:off x="9414548" y="5739251"/>
            <a:ext cx="7537199" cy="1584503"/>
            <a:chOff x="0" y="0"/>
            <a:chExt cx="10049599" cy="2112670"/>
          </a:xfrm>
        </p:grpSpPr>
        <p:sp>
          <p:nvSpPr>
            <p:cNvPr name="Freeform 11" id="11"/>
            <p:cNvSpPr/>
            <p:nvPr/>
          </p:nvSpPr>
          <p:spPr>
            <a:xfrm flipH="false" flipV="false" rot="0">
              <a:off x="0" y="0"/>
              <a:ext cx="10049637" cy="2112696"/>
            </a:xfrm>
            <a:custGeom>
              <a:avLst/>
              <a:gdLst/>
              <a:ahLst/>
              <a:cxnLst/>
              <a:rect r="r" b="b" t="t" l="l"/>
              <a:pathLst>
                <a:path h="2112696" w="10049637">
                  <a:moveTo>
                    <a:pt x="0" y="352163"/>
                  </a:moveTo>
                  <a:cubicBezTo>
                    <a:pt x="0" y="157614"/>
                    <a:pt x="141986" y="0"/>
                    <a:pt x="317246" y="0"/>
                  </a:cubicBezTo>
                  <a:lnTo>
                    <a:pt x="9732391" y="0"/>
                  </a:lnTo>
                  <a:cubicBezTo>
                    <a:pt x="9907524" y="0"/>
                    <a:pt x="10049637" y="157614"/>
                    <a:pt x="10049637" y="352163"/>
                  </a:cubicBezTo>
                  <a:lnTo>
                    <a:pt x="10049637" y="1760535"/>
                  </a:lnTo>
                  <a:cubicBezTo>
                    <a:pt x="10049637" y="1954944"/>
                    <a:pt x="9907651" y="2112696"/>
                    <a:pt x="9732391" y="2112696"/>
                  </a:cubicBezTo>
                  <a:lnTo>
                    <a:pt x="317246" y="2112696"/>
                  </a:lnTo>
                  <a:cubicBezTo>
                    <a:pt x="141986" y="2112696"/>
                    <a:pt x="0" y="1955085"/>
                    <a:pt x="0" y="1760535"/>
                  </a:cubicBezTo>
                  <a:close/>
                </a:path>
              </a:pathLst>
            </a:custGeom>
            <a:solidFill>
              <a:srgbClr val="2CAE7D">
                <a:alpha val="12157"/>
              </a:srgbClr>
            </a:solidFill>
          </p:spPr>
        </p:sp>
        <p:sp>
          <p:nvSpPr>
            <p:cNvPr name="TextBox 12" id="12"/>
            <p:cNvSpPr txBox="true"/>
            <p:nvPr/>
          </p:nvSpPr>
          <p:spPr>
            <a:xfrm>
              <a:off x="0" y="-57150"/>
              <a:ext cx="10049599" cy="2169820"/>
            </a:xfrm>
            <a:prstGeom prst="rect">
              <a:avLst/>
            </a:prstGeom>
          </p:spPr>
          <p:txBody>
            <a:bodyPr anchor="ctr" rtlCol="false" tIns="50800" lIns="50800" bIns="50800" rIns="50800"/>
            <a:lstStyle/>
            <a:p>
              <a:pPr algn="r" rtl="true" marL="777240" indent="-388620" lvl="1">
                <a:lnSpc>
                  <a:spcPts val="4967"/>
                </a:lnSpc>
                <a:buAutoNum type="arabicPeriod" startAt="1"/>
              </a:pPr>
              <a:r>
                <a:rPr lang="ar-EG" sz="3600">
                  <a:solidFill>
                    <a:srgbClr val="FFFFFF"/>
                  </a:solidFill>
                  <a:latin typeface="IBM Plex Sans Arabic"/>
                  <a:ea typeface="IBM Plex Sans Arabic"/>
                  <a:cs typeface="IBM Plex Sans Arabic"/>
                  <a:sym typeface="IBM Plex Sans Arabic"/>
                  <a:rtl val="true"/>
                </a:rPr>
                <a:t>يملئ الفراغات التقنية التي في الرادارات الحالية, و قابل للتطوير.</a:t>
              </a:r>
            </a:p>
          </p:txBody>
        </p:sp>
      </p:grpSp>
      <p:grpSp>
        <p:nvGrpSpPr>
          <p:cNvPr name="Group 13" id="13"/>
          <p:cNvGrpSpPr/>
          <p:nvPr/>
        </p:nvGrpSpPr>
        <p:grpSpPr>
          <a:xfrm rot="0">
            <a:off x="1325204" y="3589096"/>
            <a:ext cx="7537199" cy="1584503"/>
            <a:chOff x="0" y="0"/>
            <a:chExt cx="10049599" cy="2112670"/>
          </a:xfrm>
        </p:grpSpPr>
        <p:sp>
          <p:nvSpPr>
            <p:cNvPr name="Freeform 14" id="14"/>
            <p:cNvSpPr/>
            <p:nvPr/>
          </p:nvSpPr>
          <p:spPr>
            <a:xfrm flipH="false" flipV="false" rot="0">
              <a:off x="0" y="0"/>
              <a:ext cx="10049637" cy="2112696"/>
            </a:xfrm>
            <a:custGeom>
              <a:avLst/>
              <a:gdLst/>
              <a:ahLst/>
              <a:cxnLst/>
              <a:rect r="r" b="b" t="t" l="l"/>
              <a:pathLst>
                <a:path h="2112696" w="10049637">
                  <a:moveTo>
                    <a:pt x="0" y="352163"/>
                  </a:moveTo>
                  <a:cubicBezTo>
                    <a:pt x="0" y="157614"/>
                    <a:pt x="141986" y="0"/>
                    <a:pt x="317246" y="0"/>
                  </a:cubicBezTo>
                  <a:lnTo>
                    <a:pt x="9732391" y="0"/>
                  </a:lnTo>
                  <a:cubicBezTo>
                    <a:pt x="9907524" y="0"/>
                    <a:pt x="10049637" y="157614"/>
                    <a:pt x="10049637" y="352163"/>
                  </a:cubicBezTo>
                  <a:lnTo>
                    <a:pt x="10049637" y="1760535"/>
                  </a:lnTo>
                  <a:cubicBezTo>
                    <a:pt x="10049637" y="1954944"/>
                    <a:pt x="9907651" y="2112696"/>
                    <a:pt x="9732391" y="2112696"/>
                  </a:cubicBezTo>
                  <a:lnTo>
                    <a:pt x="317246" y="2112696"/>
                  </a:lnTo>
                  <a:cubicBezTo>
                    <a:pt x="141986" y="2112696"/>
                    <a:pt x="0" y="1955085"/>
                    <a:pt x="0" y="1760535"/>
                  </a:cubicBezTo>
                  <a:close/>
                </a:path>
              </a:pathLst>
            </a:custGeom>
            <a:solidFill>
              <a:srgbClr val="2CAE7D">
                <a:alpha val="12157"/>
              </a:srgbClr>
            </a:solidFill>
          </p:spPr>
        </p:sp>
        <p:sp>
          <p:nvSpPr>
            <p:cNvPr name="TextBox 15" id="15"/>
            <p:cNvSpPr txBox="true"/>
            <p:nvPr/>
          </p:nvSpPr>
          <p:spPr>
            <a:xfrm>
              <a:off x="0" y="-57150"/>
              <a:ext cx="10049599" cy="2169820"/>
            </a:xfrm>
            <a:prstGeom prst="rect">
              <a:avLst/>
            </a:prstGeom>
          </p:spPr>
          <p:txBody>
            <a:bodyPr anchor="ctr" rtlCol="false" tIns="50800" lIns="50800" bIns="50800" rIns="50800"/>
            <a:lstStyle/>
            <a:p>
              <a:pPr algn="r" rtl="true" marL="777240" indent="-388620" lvl="1">
                <a:lnSpc>
                  <a:spcPts val="4967"/>
                </a:lnSpc>
                <a:buAutoNum type="arabicPeriod" startAt="1"/>
              </a:pPr>
              <a:r>
                <a:rPr lang="ar-EG" sz="3600">
                  <a:solidFill>
                    <a:srgbClr val="FFFFFF"/>
                  </a:solidFill>
                  <a:latin typeface="IBM Plex Sans Arabic"/>
                  <a:ea typeface="IBM Plex Sans Arabic"/>
                  <a:cs typeface="IBM Plex Sans Arabic"/>
                  <a:sym typeface="IBM Plex Sans Arabic"/>
                  <a:rtl val="true"/>
                </a:rPr>
                <a:t>النظام يعمل على الجهاز </a:t>
              </a:r>
              <a:r>
                <a:rPr lang="en-US" sz="3600">
                  <a:solidFill>
                    <a:srgbClr val="FFFFFF"/>
                  </a:solidFill>
                  <a:latin typeface="IBM Plex Sans Arabic"/>
                  <a:ea typeface="IBM Plex Sans Arabic"/>
                  <a:cs typeface="IBM Plex Sans Arabic"/>
                  <a:sym typeface="IBM Plex Sans Arabic"/>
                </a:rPr>
                <a:t>100</a:t>
              </a:r>
              <a:r>
                <a:rPr lang="ar-EG" sz="3600">
                  <a:solidFill>
                    <a:srgbClr val="FFFFFF"/>
                  </a:solidFill>
                  <a:latin typeface="IBM Plex Sans Arabic"/>
                  <a:ea typeface="IBM Plex Sans Arabic"/>
                  <a:cs typeface="IBM Plex Sans Arabic"/>
                  <a:sym typeface="IBM Plex Sans Arabic"/>
                  <a:rtl val="true"/>
                </a:rPr>
                <a:t>% </a:t>
              </a:r>
            </a:p>
            <a:p>
              <a:pPr algn="r">
                <a:lnSpc>
                  <a:spcPts val="4967"/>
                </a:lnSpc>
              </a:pPr>
              <a:r>
                <a:rPr lang="en-US" sz="3600">
                  <a:solidFill>
                    <a:srgbClr val="FFFFFF"/>
                  </a:solidFill>
                  <a:latin typeface="IBM Plex Sans Arabic"/>
                  <a:ea typeface="IBM Plex Sans Arabic"/>
                  <a:cs typeface="IBM Plex Sans Arabic"/>
                  <a:sym typeface="IBM Plex Sans Arabic"/>
                </a:rPr>
                <a:t> </a:t>
              </a:r>
              <a:r>
                <a:rPr lang="ar-EG" sz="3600">
                  <a:solidFill>
                    <a:srgbClr val="FFFFFF"/>
                  </a:solidFill>
                  <a:latin typeface="IBM Plex Sans Arabic"/>
                  <a:ea typeface="IBM Plex Sans Arabic"/>
                  <a:cs typeface="IBM Plex Sans Arabic"/>
                  <a:sym typeface="IBM Plex Sans Arabic"/>
                  <a:rtl val="true"/>
                </a:rPr>
                <a:t>لا يوجد تدخل بالكلاود و هاذا يزيد الامان</a:t>
              </a:r>
              <a:r>
                <a:rPr lang="en-US" sz="3600">
                  <a:solidFill>
                    <a:srgbClr val="FFFFFF"/>
                  </a:solidFill>
                  <a:latin typeface="IBM Plex Sans Arabic"/>
                  <a:ea typeface="IBM Plex Sans Arabic"/>
                  <a:cs typeface="IBM Plex Sans Arabic"/>
                  <a:sym typeface="IBM Plex Sans Arabic"/>
                </a:rPr>
                <a:t>.</a:t>
              </a:r>
            </a:p>
          </p:txBody>
        </p:sp>
      </p:grpSp>
      <p:grpSp>
        <p:nvGrpSpPr>
          <p:cNvPr name="Group 16" id="16"/>
          <p:cNvGrpSpPr/>
          <p:nvPr/>
        </p:nvGrpSpPr>
        <p:grpSpPr>
          <a:xfrm rot="0">
            <a:off x="1325204" y="5710352"/>
            <a:ext cx="7537199" cy="1584503"/>
            <a:chOff x="0" y="0"/>
            <a:chExt cx="10049599" cy="2112670"/>
          </a:xfrm>
        </p:grpSpPr>
        <p:sp>
          <p:nvSpPr>
            <p:cNvPr name="Freeform 17" id="17"/>
            <p:cNvSpPr/>
            <p:nvPr/>
          </p:nvSpPr>
          <p:spPr>
            <a:xfrm flipH="false" flipV="false" rot="0">
              <a:off x="0" y="0"/>
              <a:ext cx="10049637" cy="2112696"/>
            </a:xfrm>
            <a:custGeom>
              <a:avLst/>
              <a:gdLst/>
              <a:ahLst/>
              <a:cxnLst/>
              <a:rect r="r" b="b" t="t" l="l"/>
              <a:pathLst>
                <a:path h="2112696" w="10049637">
                  <a:moveTo>
                    <a:pt x="0" y="352163"/>
                  </a:moveTo>
                  <a:cubicBezTo>
                    <a:pt x="0" y="157614"/>
                    <a:pt x="141986" y="0"/>
                    <a:pt x="317246" y="0"/>
                  </a:cubicBezTo>
                  <a:lnTo>
                    <a:pt x="9732391" y="0"/>
                  </a:lnTo>
                  <a:cubicBezTo>
                    <a:pt x="9907524" y="0"/>
                    <a:pt x="10049637" y="157614"/>
                    <a:pt x="10049637" y="352163"/>
                  </a:cubicBezTo>
                  <a:lnTo>
                    <a:pt x="10049637" y="1760535"/>
                  </a:lnTo>
                  <a:cubicBezTo>
                    <a:pt x="10049637" y="1954944"/>
                    <a:pt x="9907651" y="2112696"/>
                    <a:pt x="9732391" y="2112696"/>
                  </a:cubicBezTo>
                  <a:lnTo>
                    <a:pt x="317246" y="2112696"/>
                  </a:lnTo>
                  <a:cubicBezTo>
                    <a:pt x="141986" y="2112696"/>
                    <a:pt x="0" y="1955085"/>
                    <a:pt x="0" y="1760535"/>
                  </a:cubicBezTo>
                  <a:close/>
                </a:path>
              </a:pathLst>
            </a:custGeom>
            <a:solidFill>
              <a:srgbClr val="2CAE7D">
                <a:alpha val="12157"/>
              </a:srgbClr>
            </a:solidFill>
          </p:spPr>
        </p:sp>
        <p:sp>
          <p:nvSpPr>
            <p:cNvPr name="TextBox 18" id="18"/>
            <p:cNvSpPr txBox="true"/>
            <p:nvPr/>
          </p:nvSpPr>
          <p:spPr>
            <a:xfrm>
              <a:off x="0" y="-57150"/>
              <a:ext cx="10049599" cy="2169820"/>
            </a:xfrm>
            <a:prstGeom prst="rect">
              <a:avLst/>
            </a:prstGeom>
          </p:spPr>
          <p:txBody>
            <a:bodyPr anchor="ctr" rtlCol="false" tIns="50800" lIns="50800" bIns="50800" rIns="50800"/>
            <a:lstStyle/>
            <a:p>
              <a:pPr algn="r" rtl="true" marL="777240" indent="-388620" lvl="1">
                <a:lnSpc>
                  <a:spcPts val="4967"/>
                </a:lnSpc>
                <a:buAutoNum type="arabicPeriod" startAt="1"/>
              </a:pPr>
              <a:r>
                <a:rPr lang="ar-EG" sz="3600">
                  <a:solidFill>
                    <a:srgbClr val="FFFFFF"/>
                  </a:solidFill>
                  <a:latin typeface="IBM Plex Sans Arabic"/>
                  <a:ea typeface="IBM Plex Sans Arabic"/>
                  <a:cs typeface="IBM Plex Sans Arabic"/>
                  <a:sym typeface="IBM Plex Sans Arabic"/>
                  <a:rtl val="true"/>
                </a:rPr>
                <a:t>قلة التكلفة, لا تحتاج الى ميزانية كبيرة لتطبق النظام في انحاء المملكة.</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4948428" y="4447775"/>
            <a:ext cx="8391154" cy="3261398"/>
            <a:chOff x="0" y="0"/>
            <a:chExt cx="11188205" cy="4348531"/>
          </a:xfrm>
        </p:grpSpPr>
        <p:sp>
          <p:nvSpPr>
            <p:cNvPr name="Freeform 4" id="4"/>
            <p:cNvSpPr/>
            <p:nvPr/>
          </p:nvSpPr>
          <p:spPr>
            <a:xfrm flipH="false" flipV="false" rot="0">
              <a:off x="0" y="0"/>
              <a:ext cx="11188192" cy="4348480"/>
            </a:xfrm>
            <a:custGeom>
              <a:avLst/>
              <a:gdLst/>
              <a:ahLst/>
              <a:cxnLst/>
              <a:rect r="r" b="b" t="t" l="l"/>
              <a:pathLst>
                <a:path h="4348480" w="11188192">
                  <a:moveTo>
                    <a:pt x="0" y="0"/>
                  </a:moveTo>
                  <a:lnTo>
                    <a:pt x="11188192" y="0"/>
                  </a:lnTo>
                  <a:lnTo>
                    <a:pt x="11188192" y="4348480"/>
                  </a:lnTo>
                  <a:lnTo>
                    <a:pt x="0" y="4348480"/>
                  </a:lnTo>
                  <a:lnTo>
                    <a:pt x="0" y="0"/>
                  </a:lnTo>
                  <a:close/>
                </a:path>
              </a:pathLst>
            </a:custGeom>
            <a:blipFill>
              <a:blip r:embed="rId4"/>
              <a:stretch>
                <a:fillRect l="0" t="0" r="0" b="-1"/>
              </a:stretch>
            </a:blipFill>
          </p:spPr>
        </p:sp>
      </p:grpSp>
      <p:grpSp>
        <p:nvGrpSpPr>
          <p:cNvPr name="Group 5" id="5"/>
          <p:cNvGrpSpPr/>
          <p:nvPr/>
        </p:nvGrpSpPr>
        <p:grpSpPr>
          <a:xfrm rot="0">
            <a:off x="7040289" y="2799902"/>
            <a:ext cx="3041456" cy="773344"/>
            <a:chOff x="0" y="0"/>
            <a:chExt cx="4055275" cy="1031126"/>
          </a:xfrm>
        </p:grpSpPr>
        <p:sp>
          <p:nvSpPr>
            <p:cNvPr name="Freeform 6" id="6"/>
            <p:cNvSpPr/>
            <p:nvPr/>
          </p:nvSpPr>
          <p:spPr>
            <a:xfrm flipH="false" flipV="false" rot="0">
              <a:off x="0" y="0"/>
              <a:ext cx="4055237" cy="1031113"/>
            </a:xfrm>
            <a:custGeom>
              <a:avLst/>
              <a:gdLst/>
              <a:ahLst/>
              <a:cxnLst/>
              <a:rect r="r" b="b" t="t" l="l"/>
              <a:pathLst>
                <a:path h="1031113" w="4055237">
                  <a:moveTo>
                    <a:pt x="0" y="0"/>
                  </a:moveTo>
                  <a:lnTo>
                    <a:pt x="4055237" y="0"/>
                  </a:lnTo>
                  <a:lnTo>
                    <a:pt x="4055237" y="1031113"/>
                  </a:lnTo>
                  <a:lnTo>
                    <a:pt x="0" y="1031113"/>
                  </a:lnTo>
                  <a:lnTo>
                    <a:pt x="0" y="0"/>
                  </a:lnTo>
                  <a:close/>
                </a:path>
              </a:pathLst>
            </a:custGeom>
            <a:blipFill>
              <a:blip r:embed="rId5"/>
              <a:stretch>
                <a:fillRect l="4460" t="16481" r="4525" b="13038"/>
              </a:stretch>
            </a:blipFill>
          </p:spPr>
        </p:sp>
      </p:grpSp>
      <p:grpSp>
        <p:nvGrpSpPr>
          <p:cNvPr name="Group 7" id="7"/>
          <p:cNvGrpSpPr/>
          <p:nvPr/>
        </p:nvGrpSpPr>
        <p:grpSpPr>
          <a:xfrm rot="0">
            <a:off x="12313853" y="2722826"/>
            <a:ext cx="1222905" cy="929964"/>
            <a:chOff x="0" y="0"/>
            <a:chExt cx="1630540" cy="1239952"/>
          </a:xfrm>
        </p:grpSpPr>
        <p:sp>
          <p:nvSpPr>
            <p:cNvPr name="Freeform 8" id="8"/>
            <p:cNvSpPr/>
            <p:nvPr/>
          </p:nvSpPr>
          <p:spPr>
            <a:xfrm flipH="false" flipV="false" rot="0">
              <a:off x="0" y="0"/>
              <a:ext cx="1630553" cy="1239901"/>
            </a:xfrm>
            <a:custGeom>
              <a:avLst/>
              <a:gdLst/>
              <a:ahLst/>
              <a:cxnLst/>
              <a:rect r="r" b="b" t="t" l="l"/>
              <a:pathLst>
                <a:path h="1239901" w="1630553">
                  <a:moveTo>
                    <a:pt x="0" y="0"/>
                  </a:moveTo>
                  <a:lnTo>
                    <a:pt x="1630553" y="0"/>
                  </a:lnTo>
                  <a:lnTo>
                    <a:pt x="1630553" y="1239901"/>
                  </a:lnTo>
                  <a:lnTo>
                    <a:pt x="0" y="1239901"/>
                  </a:lnTo>
                  <a:lnTo>
                    <a:pt x="0" y="0"/>
                  </a:lnTo>
                  <a:close/>
                </a:path>
              </a:pathLst>
            </a:custGeom>
            <a:blipFill>
              <a:blip r:embed="rId6"/>
              <a:stretch>
                <a:fillRect l="-1" t="0" r="0" b="-4"/>
              </a:stretch>
            </a:blipFill>
          </p:spPr>
        </p:sp>
      </p:grpSp>
      <p:grpSp>
        <p:nvGrpSpPr>
          <p:cNvPr name="Group 9" id="9"/>
          <p:cNvGrpSpPr/>
          <p:nvPr/>
        </p:nvGrpSpPr>
        <p:grpSpPr>
          <a:xfrm rot="0">
            <a:off x="5145615" y="2799893"/>
            <a:ext cx="1720529" cy="773344"/>
            <a:chOff x="0" y="0"/>
            <a:chExt cx="2294039" cy="1031126"/>
          </a:xfrm>
        </p:grpSpPr>
        <p:sp>
          <p:nvSpPr>
            <p:cNvPr name="Freeform 10" id="10"/>
            <p:cNvSpPr/>
            <p:nvPr/>
          </p:nvSpPr>
          <p:spPr>
            <a:xfrm flipH="false" flipV="false" rot="0">
              <a:off x="0" y="0"/>
              <a:ext cx="2294001" cy="1031113"/>
            </a:xfrm>
            <a:custGeom>
              <a:avLst/>
              <a:gdLst/>
              <a:ahLst/>
              <a:cxnLst/>
              <a:rect r="r" b="b" t="t" l="l"/>
              <a:pathLst>
                <a:path h="1031113" w="2294001">
                  <a:moveTo>
                    <a:pt x="0" y="0"/>
                  </a:moveTo>
                  <a:lnTo>
                    <a:pt x="2294001" y="0"/>
                  </a:lnTo>
                  <a:lnTo>
                    <a:pt x="2294001" y="1031113"/>
                  </a:lnTo>
                  <a:lnTo>
                    <a:pt x="0" y="1031113"/>
                  </a:lnTo>
                  <a:lnTo>
                    <a:pt x="0" y="0"/>
                  </a:lnTo>
                  <a:close/>
                </a:path>
              </a:pathLst>
            </a:custGeom>
            <a:blipFill>
              <a:blip r:embed="rId7"/>
              <a:stretch>
                <a:fillRect l="0" t="-1" r="-1" b="-2"/>
              </a:stretch>
            </a:blipFill>
          </p:spPr>
        </p:sp>
      </p:grpSp>
      <p:grpSp>
        <p:nvGrpSpPr>
          <p:cNvPr name="Group 11" id="11"/>
          <p:cNvGrpSpPr/>
          <p:nvPr/>
        </p:nvGrpSpPr>
        <p:grpSpPr>
          <a:xfrm rot="0">
            <a:off x="10377316" y="2849470"/>
            <a:ext cx="1640948" cy="676694"/>
            <a:chOff x="0" y="0"/>
            <a:chExt cx="2187931" cy="902259"/>
          </a:xfrm>
        </p:grpSpPr>
        <p:sp>
          <p:nvSpPr>
            <p:cNvPr name="Freeform 12" id="12"/>
            <p:cNvSpPr/>
            <p:nvPr/>
          </p:nvSpPr>
          <p:spPr>
            <a:xfrm flipH="false" flipV="false" rot="0">
              <a:off x="0" y="0"/>
              <a:ext cx="2187956" cy="902208"/>
            </a:xfrm>
            <a:custGeom>
              <a:avLst/>
              <a:gdLst/>
              <a:ahLst/>
              <a:cxnLst/>
              <a:rect r="r" b="b" t="t" l="l"/>
              <a:pathLst>
                <a:path h="902208" w="2187956">
                  <a:moveTo>
                    <a:pt x="0" y="0"/>
                  </a:moveTo>
                  <a:lnTo>
                    <a:pt x="2187956" y="0"/>
                  </a:lnTo>
                  <a:lnTo>
                    <a:pt x="2187956" y="902208"/>
                  </a:lnTo>
                  <a:lnTo>
                    <a:pt x="0" y="902208"/>
                  </a:lnTo>
                  <a:lnTo>
                    <a:pt x="0" y="0"/>
                  </a:lnTo>
                  <a:close/>
                </a:path>
              </a:pathLst>
            </a:custGeom>
            <a:blipFill>
              <a:blip r:embed="rId8"/>
              <a:stretch>
                <a:fillRect l="0" t="0" r="1" b="-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DAHIiEAyhhU</dc:identifier>
  <dcterms:modified xsi:type="dcterms:W3CDTF">2011-08-01T06:04:30Z</dcterms:modified>
  <cp:revision>1</cp:revision>
  <dc:title>قالب عرض المشاريع.pptx</dc:title>
</cp:coreProperties>
</file>